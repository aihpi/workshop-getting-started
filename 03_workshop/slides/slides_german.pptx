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8" r:id="rId4"/>
    <p:sldId id="320" r:id="rId30"/>
    <p:sldId id="265" r:id="rId11"/>
    <p:sldId id="258" r:id="rId12"/>
    <p:sldId id="270" r:id="rId13"/>
    <p:sldId id="259" r:id="rId14"/>
    <p:sldId id="260" r:id="rId15"/>
    <p:sldId id="261" r:id="rId16"/>
    <p:sldId id="262" r:id="rId17"/>
    <p:sldId id="263" r:id="rId18"/>
    <p:sldId id="266" r:id="rId19"/>
    <p:sldId id="319" r:id="rId3"/>
    <p:sldId id="315" r:id="rId20"/>
    <p:sldId id="271" r:id="rId5"/>
    <p:sldId id="309" r:id="rId6"/>
    <p:sldId id="312" r:id="rId7"/>
    <p:sldId id="310" r:id="rId8"/>
    <p:sldId id="311" r:id="rId9"/>
    <p:sldId id="306" r:id="rId10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586"/>
  </p:normalViewPr>
  <p:slideViewPr>
    <p:cSldViewPr snapToGrid="0">
      <p:cViewPr varScale="1">
        <p:scale>
          <a:sx n="100" d="100"/>
          <a:sy n="100" d="100"/>
        </p:scale>
        <p:origin x="16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  <Relationship Id="rId30" Type="http://schemas.openxmlformats.org/officeDocument/2006/relationships/slide" Target="slides/slide22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30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Bitte setzen Sie sich nach Betriebssystem zusammen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MacOS?</a:t>
            </a:r>
          </a:p>
          <a:p>
            <a:r>
              <a:rPr lang="de-DE" dirty="0"/>
              <a:t>-&gt; Bitte links sitzen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de-DE" dirty="0"/>
              <a:t>Linux?</a:t>
            </a:r>
          </a:p>
          <a:p>
            <a:r>
              <a:rPr lang="de-DE" dirty="0"/>
              <a:t>-&gt; Bitte in der Mitte sitzen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de-DE" dirty="0"/>
              <a:t>Windows?</a:t>
            </a:r>
          </a:p>
          <a:p>
            <a:r>
              <a:rPr lang="de-DE" dirty="0"/>
              <a:t>-&gt; Bitte rechts sitzen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Erste Schritte zur eigenen KI-Anwendung</a:t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Die wichtigsten Werkzeuge für lokale KI-Entwicklung einrichten</a:t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Überblick über das KI-Servicezentrum</a:t>
            </a:r>
            <a:r>
              <a:rPr lang="de-DE" dirty="0" err="1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de-DE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und kritische Infrastruktur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Medizin &amp; Energie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de-DE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de-DE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Bildungs- und Beratungsangebote,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Anwendung von KI in Wirtschaft &amp; Gesellschaft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de-DE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FORSCHUNG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de-DE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BILDUNG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de-DE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INFRASTRUKTUR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de-DE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BERATUNG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Erklärbarkeit, Generalisierbarkeit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und kontextuelle Anpassung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de-DE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de-DE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Multimodale, große und übertragbare KI-Modelle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de-DE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de-DE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KI-Servicezentren</a:t>
            </a:r>
            <a:endParaRPr lang="de-DE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de-DE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163723" y="408214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de-DE" sz="2666">
                <a:solidFill>
                  <a:srgbClr val="FFFFFF"/>
                </a:solidFill>
                <a:latin typeface="Codec Pro"/>
              </a:rPr>
              <a:t>BERATUNG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de-DE" sz="1095">
                  <a:solidFill>
                    <a:srgbClr val="FFFFFF"/>
                  </a:solidFill>
                  <a:latin typeface="Codec Pro Bold"/>
                </a:rPr>
                <a:t>HPI-ÖKOSYSTEM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de-DE" sz="1500" b="1" dirty="0">
                <a:solidFill>
                  <a:srgbClr val="FFFFFF"/>
                </a:solidFill>
                <a:latin typeface="Codec Pro Bold"/>
              </a:rPr>
              <a:t>KI-Beratung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Allgemeine Fragen zu KI,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Recheninfrastruktur,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Wahl von Modell, Architektur, Framework</a:t>
            </a:r>
          </a:p>
          <a:p>
            <a:pPr>
              <a:lnSpc>
                <a:spcPts val="2147"/>
              </a:lnSpc>
            </a:pPr>
            <a:endParaRPr lang="de-DE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de-DE" sz="1500" b="1" dirty="0">
                <a:solidFill>
                  <a:srgbClr val="FFFFFF"/>
                </a:solidFill>
                <a:latin typeface="Codec Pro Bold"/>
              </a:rPr>
              <a:t>KI-Pilotprojekte (3 Monate)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Anwendungsfall identifizieren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  <a:r>
              <a:rPr lang="de-DE" sz="1533" dirty="0">
                <a:solidFill>
                  <a:srgbClr val="FFFFFF"/>
                </a:solidFill>
                <a:latin typeface="Codec Pro Bold"/>
              </a:rPr>
              <a:t/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Anwendungsfall spezifizieren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Lösung entwickeln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Abschließen und dokumentieren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  <a:r>
              <a:rPr lang="de-DE" sz="1533" dirty="0">
                <a:solidFill>
                  <a:srgbClr val="FFFFFF"/>
                </a:solidFill>
                <a:latin typeface="Codec Pro Bold"/>
              </a:rPr>
              <a:t/>
            </a:r>
          </a:p>
          <a:p>
            <a:pPr>
              <a:lnSpc>
                <a:spcPts val="2147"/>
              </a:lnSpc>
            </a:pPr>
            <a:endParaRPr lang="de-DE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de-DE" sz="1500" b="1" dirty="0" err="1">
                <a:solidFill>
                  <a:srgbClr val="FFFFFF"/>
                </a:solidFill>
                <a:latin typeface="Codec Pro Bold"/>
              </a:rPr>
              <a:t>Kooperationen</a:t>
            </a:r>
            <a:endParaRPr lang="de-DE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Gemeinsame Netzwerktreffen, Workshops</a:t>
            </a:r>
          </a:p>
          <a:p>
            <a:pPr>
              <a:lnSpc>
                <a:spcPts val="2147"/>
              </a:lnSpc>
            </a:pPr>
            <a:endParaRPr lang="de-DE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de-DE" sz="1500" b="1" dirty="0">
                <a:solidFill>
                  <a:srgbClr val="FFFFFF"/>
                </a:solidFill>
                <a:latin typeface="Codec Pro Bold"/>
              </a:rPr>
              <a:t>Start-up-Unterstützung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Alle oben genannten Angebote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Unterstützung bei der Vernetzung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de-DE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de-DE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de-DE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2CF2C-90E7-424C-20F1-B7C073069C19}"/>
              </a:ext>
            </a:extLst>
          </p:cNvPr>
          <p:cNvSpPr/>
          <p:nvPr/>
        </p:nvSpPr>
        <p:spPr>
          <a:xfrm>
            <a:off x="6635983" y="2657625"/>
            <a:ext cx="2770021" cy="16009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7CCD38-C0B7-B6EC-69C0-5A3D1EAC6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668" y="3610278"/>
            <a:ext cx="3278359" cy="6483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E1FE5A9-1A33-FEAB-406A-9802104EA3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4785" y="4328285"/>
            <a:ext cx="2562285" cy="83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de-DE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Infrastruktur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de-DE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de-DE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de-DE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2 x NVIDIA L40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de-DE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de-DE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NVIDIA Jetson AGX Modul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Speicher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Netzwerk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de-DE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de-DE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de-DE" sz="1866">
                  <a:solidFill>
                    <a:srgbClr val="FFFFFF"/>
                  </a:solidFill>
                  <a:latin typeface="Codec Pro Bold"/>
                </a:rPr>
                <a:t>Vorträge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de-DE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de-DE" sz="2666">
                <a:solidFill>
                  <a:srgbClr val="FFFFFF"/>
                </a:solidFill>
                <a:latin typeface="Codec Pro Bold"/>
              </a:rPr>
              <a:t>BILDUNG</a:t>
            </a:r>
          </a:p>
          <a:p>
            <a:pPr>
              <a:lnSpc>
                <a:spcPts val="3199"/>
              </a:lnSpc>
            </a:pPr>
            <a:r>
              <a:rPr lang="de-DE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de-DE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de-DE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de-DE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de-DE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de-DE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de-DE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9620FA-EF03-E7B2-8EE4-F76B79C4D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09" y="849284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34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Was ist Ihr Hintergrund?</a:t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Was hat Sie heute hierher geführt?</a:t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Kennen Sie VS Code, Git, Docker, Python, … ?</a:t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Kennenlernen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WSL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Git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 err="1"/>
              <a:t>Ollama</a:t>
            </a:r>
            <a:endParaRPr lang="de-DE" sz="2000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Beispielanwendung: lokaler Chatbot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Ziel: Ihre Umgebung einrichten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de-DE" dirty="0"/>
              <a:t>Überblick über die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Schlank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Plattformübergreifend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Mit Erweiterungen ausbaubar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Unterstützt verschiedene Werkzeuge: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Python, </a:t>
            </a:r>
            <a:r>
              <a:rPr lang="de-DE" dirty="0" err="1"/>
              <a:t>Jupyter</a:t>
            </a:r>
            <a:r>
              <a:rPr lang="de-DE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Integration von Coding-Assistenten (z. B. 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Plattform zur Versionsverwaltung von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Entwicklung, Versionsverwaltung, Review und Dokumentation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Universelle Programmiersprache mit zentralen Bibliotheken für KI und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NumPy: numerisches Rechnen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 err="1"/>
              <a:t>PyTorch: neuronale Netze</a:t>
            </a:r>
            <a:r>
              <a:rPr lang="de-DE" dirty="0"/>
              <a:t/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 err="1"/>
              <a:t>Librosa: Audioverarbeitung</a:t>
            </a:r>
            <a:r>
              <a:rPr lang="de-DE" dirty="0"/>
              <a:t/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Umfangreiche Lernmaterialien und Tutorials verfügbar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Geeignet für Datenverarbeitung, Modelltraining,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Schneller Paket- und Projektmanager für Python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Übernimmt Paketinstallation und Abhängigkeitsverwaltung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Erstellt reproduzierbare Entwicklungsumgebungen mit einheitlichen Paketversionen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Code läuft zuverlässig auf verschiedenen Rechnern und Betriebssystemen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Windows 10, 11, XP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de-DE" dirty="0"/>
              <a:t>Unterstützt Code, Fließtext, Formeln (Markdown) und Visualisierungen</a:t>
            </a:r>
            <a:endParaRPr lang="de-DE" dirty="0"/>
          </a:p>
          <a:p>
            <a:pPr marL="514350" indent="-285750">
              <a:buSzPct val="100000"/>
              <a:buChar char="•"/>
            </a:pPr>
            <a:r>
              <a:rPr lang="de-DE" dirty="0"/>
              <a:t>Ideal für explorative Datenanalyse, Prototyping und Lehre</a:t>
            </a:r>
          </a:p>
          <a:p>
            <a:pPr marL="514350" indent="-285750">
              <a:buSzPct val="100000"/>
              <a:buChar char="•"/>
            </a:pPr>
            <a:r>
              <a:rPr lang="de-DE" dirty="0"/>
              <a:t>Codezellen einzeln ausführbar --&gt; einfaches 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Jupyter</a:t>
            </a:r>
            <a:r>
              <a:rPr lang="de-DE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Containerplattform zum Paketieren reproduzierbarer Laufzeitumgebungen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Anwendungen laufen einheitlich auf Rechnern, Servern und Hochleistungsclustern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Löst das „läuft bei mir“-Problem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Ideal für komplexe Software-Stacks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1000000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de-DE" sz="3200">
              <a:solidFill>
                <a:srgbClr val="5A6065"/>
              </a:solidFill>
            </a:endParaRPr>
          </a:p>
          <a:p>
            <a:pPr algn="ctr"/>
            <a:endParaRPr lang="de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3E47-5487-D94D-7163-7438EAD5B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433" y="1650000"/>
            <a:ext cx="4685134" cy="4749169"/>
          </a:xfrm>
          <a:prstGeom prst="rect">
            <a:avLst/>
          </a:prstGeom>
        </p:spPr>
      </p:pic>
      <p:sp>
        <p:nvSpPr>
          <p:cNvPr id="7" name="Title Hands-on"/>
          <p:cNvSpPr txBox="1"/>
          <p:nvPr/>
        </p:nvSpPr>
        <p:spPr>
          <a:xfrm>
            <a:off x="1080052" y="300000"/>
            <a:ext cx="10114721" cy="60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de-DE" sz="3200" dirty="0">
                <a:solidFill>
                  <a:srgbClr val="5A6065"/>
                </a:solidFill>
              </a:rPr>
              <a:t>Praxisteil</a:t>
            </a:r>
          </a:p>
        </p:txBody>
      </p:sp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Fertig? Entdecken Sie unsere kommenden Workshops, Vorträge und Onlinekurse!</a:t>
            </a:r>
          </a:p>
        </p:txBody>
      </p:sp>
      <p:pic>
        <p:nvPicPr>
          <p:cNvPr id="8" name="Grafik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Fertig? Entdecken Sie unsere kommenden Workshops, Vorträge und Onlinekurse!</a:t>
            </a:r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de-DE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de-DE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de-DE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de-DE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de-DE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Ihre Meinung ist uns wichtig!</a:t>
            </a:r>
            <a:r>
              <a:rPr lang="de-DE" sz="2667" dirty="0"/>
              <a:t/>
            </a:r>
            <a:r>
              <a:rPr lang="de-DE" sz="2667" dirty="0" err="1"/>
              <a:t/>
            </a:r>
            <a:r>
              <a:rPr lang="de-DE" sz="2667" dirty="0"/>
              <a:t/>
            </a:r>
            <a:r>
              <a:rPr lang="de-DE" sz="2667" dirty="0" err="1"/>
              <a:t/>
            </a:r>
            <a:r>
              <a:rPr lang="de-DE" sz="2667" dirty="0"/>
              <a:t/>
            </a:r>
            <a:r>
              <a:rPr lang="de-DE" sz="2667" dirty="0" err="1"/>
              <a:t/>
            </a:r>
            <a:r>
              <a:rPr lang="de-DE" sz="2667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QR-Code zum Feedbackformular</a:t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None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Bitte tragen Sie sich in die Teilnahmeliste ein und geben Sie sie weiter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Teilnahmeliste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620</Words>
  <Application>Microsoft Macintosh PowerPoint</Application>
  <PresentationFormat>Widescreen</PresentationFormat>
  <Paragraphs>169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Aileron Bold</vt:lpstr>
      <vt:lpstr>Arial</vt:lpstr>
      <vt:lpstr>Calibri</vt:lpstr>
      <vt:lpstr>Codec Pro</vt:lpstr>
      <vt:lpstr>Codec Pro Bold</vt:lpstr>
      <vt:lpstr>Verdana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Let's get to know each other</vt:lpstr>
      <vt:lpstr>Goal: Set up your environment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295</cp:revision>
  <dcterms:modified xsi:type="dcterms:W3CDTF">2026-05-13T08:31:26Z</dcterms:modified>
</cp:coreProperties>
</file>