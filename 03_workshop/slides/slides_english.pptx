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7" r:id="rId1"/>
    <p:sldMasterId id="2147483689" r:id="rId2"/>
  </p:sldMasterIdLst>
  <p:notesMasterIdLst>
    <p:notesMasterId r:id="rId24"/>
  </p:notesMasterIdLst>
  <p:handoutMasterIdLst>
    <p:handoutMasterId r:id="rId25"/>
  </p:handoutMasterIdLst>
  <p:sldIdLst>
    <p:sldId id="318" r:id="rId4"/>
    <p:sldId id="320" r:id="rId30"/>
    <p:sldId id="265" r:id="rId11"/>
    <p:sldId id="258" r:id="rId12"/>
    <p:sldId id="270" r:id="rId13"/>
    <p:sldId id="259" r:id="rId14"/>
    <p:sldId id="260" r:id="rId15"/>
    <p:sldId id="261" r:id="rId16"/>
    <p:sldId id="262" r:id="rId17"/>
    <p:sldId id="263" r:id="rId18"/>
    <p:sldId id="266" r:id="rId19"/>
    <p:sldId id="319" r:id="rId3"/>
    <p:sldId id="315" r:id="rId20"/>
    <p:sldId id="271" r:id="rId5"/>
    <p:sldId id="309" r:id="rId6"/>
    <p:sldId id="312" r:id="rId7"/>
    <p:sldId id="310" r:id="rId8"/>
    <p:sldId id="311" r:id="rId9"/>
    <p:sldId id="306" r:id="rId10"/>
    <p:sldId id="316" r:id="rId21"/>
    <p:sldId id="317" r:id="rId22"/>
    <p:sldId id="273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6969"/>
    <a:srgbClr val="007A9E"/>
    <a:srgbClr val="18E797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586"/>
  </p:normalViewPr>
  <p:slideViewPr>
    <p:cSldViewPr snapToGrid="0">
      <p:cViewPr varScale="1">
        <p:scale>
          <a:sx n="100" d="100"/>
          <a:sy n="100" d="100"/>
        </p:scale>
        <p:origin x="168" y="2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4164" y="114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  <Relationship Id="rId30" Type="http://schemas.openxmlformats.org/officeDocument/2006/relationships/slide" Target="slides/slide22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EC12233-42E3-BCF6-904D-3837B15E21B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BBC0507-4319-6E48-86C4-FB29BF2958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A22D8D-A38A-4E73-8A50-D9155A9F6B37}" type="datetimeFigureOut">
              <a:rPr lang="de-DE" smtClean="0"/>
              <a:t>13.05.26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C421255-D7CA-62E5-D227-9FADC5710D3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17726FB-131F-52B1-56D6-4DB1DF2D31F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CFDBFB-1AF6-40BB-B54E-A579A4352E2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99894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7580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Inhalt 1 - gelb">
    <p:bg>
      <p:bgPr>
        <a:solidFill>
          <a:schemeClr val="accent3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>
            <a:off x="3006250" y="0"/>
            <a:ext cx="91857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6676" b="6676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3" name="Grafik 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0D51BF53-641B-1A42-11E3-E1F67454E1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6" name="Google Shape;40;p4">
            <a:extLst>
              <a:ext uri="{FF2B5EF4-FFF2-40B4-BE49-F238E27FC236}">
                <a16:creationId xmlns:a16="http://schemas.microsoft.com/office/drawing/2014/main" id="{FC6DA92D-7911-DC9B-2294-661E3C37E9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4675" y="1758794"/>
            <a:ext cx="8658226" cy="420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" name="Google Shape;26;p3">
            <a:extLst>
              <a:ext uri="{FF2B5EF4-FFF2-40B4-BE49-F238E27FC236}">
                <a16:creationId xmlns:a16="http://schemas.microsoft.com/office/drawing/2014/main" id="{0C2D24FF-6DA4-A2E6-B1BA-05AFD8A305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675" y="507304"/>
            <a:ext cx="6851715" cy="1009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" name="Google Shape;24;p2">
            <a:extLst>
              <a:ext uri="{FF2B5EF4-FFF2-40B4-BE49-F238E27FC236}">
                <a16:creationId xmlns:a16="http://schemas.microsoft.com/office/drawing/2014/main" id="{9D099F0C-E26D-002A-1705-74ACEAC45C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75135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Inhalt 1 - orange">
    <p:bg>
      <p:bgPr>
        <a:solidFill>
          <a:schemeClr val="accent2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>
            <a:off x="3006250" y="0"/>
            <a:ext cx="91857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6676" b="6676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3" name="Grafik 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0D51BF53-641B-1A42-11E3-E1F67454E1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6" name="Google Shape;40;p4">
            <a:extLst>
              <a:ext uri="{FF2B5EF4-FFF2-40B4-BE49-F238E27FC236}">
                <a16:creationId xmlns:a16="http://schemas.microsoft.com/office/drawing/2014/main" id="{FC6DA92D-7911-DC9B-2294-661E3C37E9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4675" y="1758794"/>
            <a:ext cx="8658226" cy="420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" name="Google Shape;26;p3">
            <a:extLst>
              <a:ext uri="{FF2B5EF4-FFF2-40B4-BE49-F238E27FC236}">
                <a16:creationId xmlns:a16="http://schemas.microsoft.com/office/drawing/2014/main" id="{0C2D24FF-6DA4-A2E6-B1BA-05AFD8A305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675" y="507304"/>
            <a:ext cx="6851715" cy="1009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" name="Google Shape;24;p2">
            <a:extLst>
              <a:ext uri="{FF2B5EF4-FFF2-40B4-BE49-F238E27FC236}">
                <a16:creationId xmlns:a16="http://schemas.microsoft.com/office/drawing/2014/main" id="{9FAFF30B-54F1-8E0C-5984-0B9104490FD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84458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Inhalt 1 - rot">
    <p:bg>
      <p:bgPr>
        <a:solidFill>
          <a:schemeClr val="accen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>
            <a:off x="3006250" y="0"/>
            <a:ext cx="91857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6676" b="6676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3" name="Grafik 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0D51BF53-641B-1A42-11E3-E1F67454E1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6" name="Google Shape;40;p4">
            <a:extLst>
              <a:ext uri="{FF2B5EF4-FFF2-40B4-BE49-F238E27FC236}">
                <a16:creationId xmlns:a16="http://schemas.microsoft.com/office/drawing/2014/main" id="{FC6DA92D-7911-DC9B-2294-661E3C37E9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4675" y="1758794"/>
            <a:ext cx="8658226" cy="420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" name="Google Shape;26;p3">
            <a:extLst>
              <a:ext uri="{FF2B5EF4-FFF2-40B4-BE49-F238E27FC236}">
                <a16:creationId xmlns:a16="http://schemas.microsoft.com/office/drawing/2014/main" id="{0C2D24FF-6DA4-A2E6-B1BA-05AFD8A305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675" y="507304"/>
            <a:ext cx="6851715" cy="1009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" name="Google Shape;24;p2">
            <a:extLst>
              <a:ext uri="{FF2B5EF4-FFF2-40B4-BE49-F238E27FC236}">
                <a16:creationId xmlns:a16="http://schemas.microsoft.com/office/drawing/2014/main" id="{D613D350-73C4-A254-2B82-A2D28A43D58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609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Inhalt 1 - blau">
    <p:bg>
      <p:bgPr>
        <a:solidFill>
          <a:srgbClr val="007A9E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>
            <a:off x="3006250" y="0"/>
            <a:ext cx="91857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3" name="Grafik 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0D51BF53-641B-1A42-11E3-E1F67454E1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6" name="Google Shape;40;p4">
            <a:extLst>
              <a:ext uri="{FF2B5EF4-FFF2-40B4-BE49-F238E27FC236}">
                <a16:creationId xmlns:a16="http://schemas.microsoft.com/office/drawing/2014/main" id="{FC6DA92D-7911-DC9B-2294-661E3C37E9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4675" y="1758794"/>
            <a:ext cx="8658226" cy="420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" name="Google Shape;26;p3">
            <a:extLst>
              <a:ext uri="{FF2B5EF4-FFF2-40B4-BE49-F238E27FC236}">
                <a16:creationId xmlns:a16="http://schemas.microsoft.com/office/drawing/2014/main" id="{0C2D24FF-6DA4-A2E6-B1BA-05AFD8A305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675" y="507304"/>
            <a:ext cx="6851715" cy="1009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" name="Google Shape;24;p2">
            <a:extLst>
              <a:ext uri="{FF2B5EF4-FFF2-40B4-BE49-F238E27FC236}">
                <a16:creationId xmlns:a16="http://schemas.microsoft.com/office/drawing/2014/main" id="{8DDDF9D8-8B75-D2E4-A55A-F57F61F8EE1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44196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Inhalt 1 - grün">
    <p:bg>
      <p:bgPr>
        <a:solidFill>
          <a:srgbClr val="18E797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>
            <a:off x="3006250" y="0"/>
            <a:ext cx="91857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3" name="Grafik 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0D51BF53-641B-1A42-11E3-E1F67454E1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6" name="Google Shape;40;p4">
            <a:extLst>
              <a:ext uri="{FF2B5EF4-FFF2-40B4-BE49-F238E27FC236}">
                <a16:creationId xmlns:a16="http://schemas.microsoft.com/office/drawing/2014/main" id="{FC6DA92D-7911-DC9B-2294-661E3C37E9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4675" y="1758794"/>
            <a:ext cx="8658226" cy="420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" name="Google Shape;26;p3">
            <a:extLst>
              <a:ext uri="{FF2B5EF4-FFF2-40B4-BE49-F238E27FC236}">
                <a16:creationId xmlns:a16="http://schemas.microsoft.com/office/drawing/2014/main" id="{0C2D24FF-6DA4-A2E6-B1BA-05AFD8A305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675" y="507304"/>
            <a:ext cx="6851715" cy="1009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" name="Google Shape;24;p2">
            <a:extLst>
              <a:ext uri="{FF2B5EF4-FFF2-40B4-BE49-F238E27FC236}">
                <a16:creationId xmlns:a16="http://schemas.microsoft.com/office/drawing/2014/main" id="{2A3D60E5-5F1B-EC13-9002-8CE5275DF73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9398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r dunkel" preserve="1" userDrawn="1">
  <p:cSld name="Inhalt 2">
    <p:bg>
      <p:bgPr>
        <a:solidFill>
          <a:schemeClr val="bg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leichschenkliges Dreieck 14">
            <a:extLst>
              <a:ext uri="{FF2B5EF4-FFF2-40B4-BE49-F238E27FC236}">
                <a16:creationId xmlns:a16="http://schemas.microsoft.com/office/drawing/2014/main" id="{80A1D962-6EBE-42A3-9745-798764273018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2E67989E-C41B-4A5E-A549-5592B33B16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6676" b="6676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5" name="Google Shape;39;p4">
            <a:extLst>
              <a:ext uri="{FF2B5EF4-FFF2-40B4-BE49-F238E27FC236}">
                <a16:creationId xmlns:a16="http://schemas.microsoft.com/office/drawing/2014/main" id="{88044670-7AC7-6879-91A5-7B66E43BC2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19174" y="572883"/>
            <a:ext cx="8251200" cy="80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" name="Google Shape;40;p4">
            <a:extLst>
              <a:ext uri="{FF2B5EF4-FFF2-40B4-BE49-F238E27FC236}">
                <a16:creationId xmlns:a16="http://schemas.microsoft.com/office/drawing/2014/main" id="{A0DC78AC-7303-B6DA-E439-AB26CB990B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19175" y="1941616"/>
            <a:ext cx="10514013" cy="3552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2"/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7" name="Google Shape;139;p16">
            <a:extLst>
              <a:ext uri="{FF2B5EF4-FFF2-40B4-BE49-F238E27FC236}">
                <a16:creationId xmlns:a16="http://schemas.microsoft.com/office/drawing/2014/main" id="{23E18989-F6B4-6EF4-90C9-67F89F8042C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8" name="Google Shape;140;p16">
            <a:extLst>
              <a:ext uri="{FF2B5EF4-FFF2-40B4-BE49-F238E27FC236}">
                <a16:creationId xmlns:a16="http://schemas.microsoft.com/office/drawing/2014/main" id="{83E3C31D-BDFA-6851-61C1-8CC30E69A4D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pic>
        <p:nvPicPr>
          <p:cNvPr id="11" name="Grafik 10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4D57BB97-F3F1-3BBD-556F-68BD816791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4903" y="271341"/>
            <a:ext cx="1705178" cy="603083"/>
          </a:xfrm>
          <a:prstGeom prst="rect">
            <a:avLst/>
          </a:prstGeom>
        </p:spPr>
      </p:pic>
      <p:sp>
        <p:nvSpPr>
          <p:cNvPr id="12" name="Google Shape;24;p2">
            <a:extLst>
              <a:ext uri="{FF2B5EF4-FFF2-40B4-BE49-F238E27FC236}">
                <a16:creationId xmlns:a16="http://schemas.microsoft.com/office/drawing/2014/main" id="{9544BBB8-AABB-F348-E790-A025FC7097C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82283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>
  <p:cSld name="Zwischentitel - gelb">
    <p:bg>
      <p:bgPr>
        <a:solidFill>
          <a:schemeClr val="accent3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605200" y="2536825"/>
            <a:ext cx="6228000" cy="5073727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"/>
          <p:cNvSpPr/>
          <p:nvPr/>
        </p:nvSpPr>
        <p:spPr>
          <a:xfrm>
            <a:off x="269479" y="257680"/>
            <a:ext cx="11647785" cy="6331539"/>
          </a:xfrm>
          <a:custGeom>
            <a:avLst/>
            <a:gdLst/>
            <a:ahLst/>
            <a:cxnLst/>
            <a:rect l="l" t="t" r="r" b="b"/>
            <a:pathLst>
              <a:path w="11647785" h="6331539" extrusionOk="0">
                <a:moveTo>
                  <a:pt x="11647785" y="6331540"/>
                </a:moveTo>
                <a:lnTo>
                  <a:pt x="2701721" y="6331540"/>
                </a:lnTo>
                <a:cubicBezTo>
                  <a:pt x="2699098" y="6331540"/>
                  <a:pt x="2696969" y="6329411"/>
                  <a:pt x="2696969" y="6326788"/>
                </a:cubicBezTo>
                <a:cubicBezTo>
                  <a:pt x="2696969" y="6324165"/>
                  <a:pt x="2699098" y="6322036"/>
                  <a:pt x="2701721" y="6322036"/>
                </a:cubicBezTo>
                <a:lnTo>
                  <a:pt x="11638281" y="6322036"/>
                </a:lnTo>
                <a:lnTo>
                  <a:pt x="11638281" y="9504"/>
                </a:lnTo>
                <a:lnTo>
                  <a:pt x="9504" y="9504"/>
                </a:lnTo>
                <a:lnTo>
                  <a:pt x="9504" y="6322036"/>
                </a:lnTo>
                <a:lnTo>
                  <a:pt x="616696" y="6322036"/>
                </a:lnTo>
                <a:cubicBezTo>
                  <a:pt x="619319" y="6322036"/>
                  <a:pt x="621448" y="6324165"/>
                  <a:pt x="621448" y="6326788"/>
                </a:cubicBezTo>
                <a:cubicBezTo>
                  <a:pt x="621448" y="6329411"/>
                  <a:pt x="619319" y="6331540"/>
                  <a:pt x="616696" y="6331540"/>
                </a:cubicBezTo>
                <a:lnTo>
                  <a:pt x="0" y="6331540"/>
                </a:lnTo>
                <a:lnTo>
                  <a:pt x="0" y="0"/>
                </a:lnTo>
                <a:lnTo>
                  <a:pt x="11647785" y="0"/>
                </a:lnTo>
                <a:lnTo>
                  <a:pt x="11647785" y="63315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7" name="Google Shape;47;p5"/>
          <p:cNvSpPr txBox="1">
            <a:spLocks noGrp="1"/>
          </p:cNvSpPr>
          <p:nvPr>
            <p:ph type="title"/>
          </p:nvPr>
        </p:nvSpPr>
        <p:spPr>
          <a:xfrm>
            <a:off x="1019174" y="533488"/>
            <a:ext cx="8330772" cy="84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Verdana"/>
              <a:buNone/>
              <a:defRPr sz="2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6676" b="6676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2B3C7E3A-DCE4-A96C-6C79-D67DA44C41A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1555" t="7416" r="3950" b="10350"/>
          <a:stretch/>
        </p:blipFill>
        <p:spPr>
          <a:xfrm>
            <a:off x="10190303" y="292593"/>
            <a:ext cx="1668083" cy="592932"/>
          </a:xfrm>
          <a:prstGeom prst="rect">
            <a:avLst/>
          </a:prstGeom>
        </p:spPr>
      </p:pic>
      <p:sp>
        <p:nvSpPr>
          <p:cNvPr id="8" name="Google Shape;60;p7">
            <a:extLst>
              <a:ext uri="{FF2B5EF4-FFF2-40B4-BE49-F238E27FC236}">
                <a16:creationId xmlns:a16="http://schemas.microsoft.com/office/drawing/2014/main" id="{FD026BEB-E418-E116-6D3D-6DB31DD85A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29584" y="6166658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76012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>
  <p:cSld name="Zwischentitel - orange">
    <p:bg>
      <p:bgPr>
        <a:solidFill>
          <a:schemeClr val="accent2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605200" y="2536825"/>
            <a:ext cx="6228000" cy="5073727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"/>
          <p:cNvSpPr/>
          <p:nvPr/>
        </p:nvSpPr>
        <p:spPr>
          <a:xfrm>
            <a:off x="269479" y="257680"/>
            <a:ext cx="11647785" cy="6331539"/>
          </a:xfrm>
          <a:custGeom>
            <a:avLst/>
            <a:gdLst/>
            <a:ahLst/>
            <a:cxnLst/>
            <a:rect l="l" t="t" r="r" b="b"/>
            <a:pathLst>
              <a:path w="11647785" h="6331539" extrusionOk="0">
                <a:moveTo>
                  <a:pt x="11647785" y="6331540"/>
                </a:moveTo>
                <a:lnTo>
                  <a:pt x="2701721" y="6331540"/>
                </a:lnTo>
                <a:cubicBezTo>
                  <a:pt x="2699098" y="6331540"/>
                  <a:pt x="2696969" y="6329411"/>
                  <a:pt x="2696969" y="6326788"/>
                </a:cubicBezTo>
                <a:cubicBezTo>
                  <a:pt x="2696969" y="6324165"/>
                  <a:pt x="2699098" y="6322036"/>
                  <a:pt x="2701721" y="6322036"/>
                </a:cubicBezTo>
                <a:lnTo>
                  <a:pt x="11638281" y="6322036"/>
                </a:lnTo>
                <a:lnTo>
                  <a:pt x="11638281" y="9504"/>
                </a:lnTo>
                <a:lnTo>
                  <a:pt x="9504" y="9504"/>
                </a:lnTo>
                <a:lnTo>
                  <a:pt x="9504" y="6322036"/>
                </a:lnTo>
                <a:lnTo>
                  <a:pt x="616696" y="6322036"/>
                </a:lnTo>
                <a:cubicBezTo>
                  <a:pt x="619319" y="6322036"/>
                  <a:pt x="621448" y="6324165"/>
                  <a:pt x="621448" y="6326788"/>
                </a:cubicBezTo>
                <a:cubicBezTo>
                  <a:pt x="621448" y="6329411"/>
                  <a:pt x="619319" y="6331540"/>
                  <a:pt x="616696" y="6331540"/>
                </a:cubicBezTo>
                <a:lnTo>
                  <a:pt x="0" y="6331540"/>
                </a:lnTo>
                <a:lnTo>
                  <a:pt x="0" y="0"/>
                </a:lnTo>
                <a:lnTo>
                  <a:pt x="11647785" y="0"/>
                </a:lnTo>
                <a:lnTo>
                  <a:pt x="11647785" y="63315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7" name="Google Shape;47;p5"/>
          <p:cNvSpPr txBox="1">
            <a:spLocks noGrp="1"/>
          </p:cNvSpPr>
          <p:nvPr>
            <p:ph type="title"/>
          </p:nvPr>
        </p:nvSpPr>
        <p:spPr>
          <a:xfrm>
            <a:off x="1019174" y="533488"/>
            <a:ext cx="8330772" cy="84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Verdana"/>
              <a:buNone/>
              <a:defRPr sz="2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6676" b="6676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A6E0C629-8494-42BD-7E2C-D046B034523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1442" t="7231" r="483" b="3301"/>
          <a:stretch/>
        </p:blipFill>
        <p:spPr>
          <a:xfrm>
            <a:off x="10184368" y="292593"/>
            <a:ext cx="1674018" cy="592932"/>
          </a:xfrm>
          <a:prstGeom prst="rect">
            <a:avLst/>
          </a:prstGeom>
        </p:spPr>
      </p:pic>
      <p:sp>
        <p:nvSpPr>
          <p:cNvPr id="12" name="Google Shape;60;p7">
            <a:extLst>
              <a:ext uri="{FF2B5EF4-FFF2-40B4-BE49-F238E27FC236}">
                <a16:creationId xmlns:a16="http://schemas.microsoft.com/office/drawing/2014/main" id="{DB7BC548-6090-CA7A-F00D-062EBC87560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29584" y="6166658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06277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>
  <p:cSld name="Zwischentitel - rot">
    <p:bg>
      <p:bgPr>
        <a:solidFill>
          <a:schemeClr val="accen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605200" y="2536825"/>
            <a:ext cx="6228000" cy="5073727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"/>
          <p:cNvSpPr/>
          <p:nvPr/>
        </p:nvSpPr>
        <p:spPr>
          <a:xfrm>
            <a:off x="269479" y="257680"/>
            <a:ext cx="11647785" cy="6331539"/>
          </a:xfrm>
          <a:custGeom>
            <a:avLst/>
            <a:gdLst/>
            <a:ahLst/>
            <a:cxnLst/>
            <a:rect l="l" t="t" r="r" b="b"/>
            <a:pathLst>
              <a:path w="11647785" h="6331539" extrusionOk="0">
                <a:moveTo>
                  <a:pt x="11647785" y="6331540"/>
                </a:moveTo>
                <a:lnTo>
                  <a:pt x="2701721" y="6331540"/>
                </a:lnTo>
                <a:cubicBezTo>
                  <a:pt x="2699098" y="6331540"/>
                  <a:pt x="2696969" y="6329411"/>
                  <a:pt x="2696969" y="6326788"/>
                </a:cubicBezTo>
                <a:cubicBezTo>
                  <a:pt x="2696969" y="6324165"/>
                  <a:pt x="2699098" y="6322036"/>
                  <a:pt x="2701721" y="6322036"/>
                </a:cubicBezTo>
                <a:lnTo>
                  <a:pt x="11638281" y="6322036"/>
                </a:lnTo>
                <a:lnTo>
                  <a:pt x="11638281" y="9504"/>
                </a:lnTo>
                <a:lnTo>
                  <a:pt x="9504" y="9504"/>
                </a:lnTo>
                <a:lnTo>
                  <a:pt x="9504" y="6322036"/>
                </a:lnTo>
                <a:lnTo>
                  <a:pt x="616696" y="6322036"/>
                </a:lnTo>
                <a:cubicBezTo>
                  <a:pt x="619319" y="6322036"/>
                  <a:pt x="621448" y="6324165"/>
                  <a:pt x="621448" y="6326788"/>
                </a:cubicBezTo>
                <a:cubicBezTo>
                  <a:pt x="621448" y="6329411"/>
                  <a:pt x="619319" y="6331540"/>
                  <a:pt x="616696" y="6331540"/>
                </a:cubicBezTo>
                <a:lnTo>
                  <a:pt x="0" y="6331540"/>
                </a:lnTo>
                <a:lnTo>
                  <a:pt x="0" y="0"/>
                </a:lnTo>
                <a:lnTo>
                  <a:pt x="11647785" y="0"/>
                </a:lnTo>
                <a:lnTo>
                  <a:pt x="11647785" y="63315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7" name="Google Shape;47;p5"/>
          <p:cNvSpPr txBox="1">
            <a:spLocks noGrp="1"/>
          </p:cNvSpPr>
          <p:nvPr>
            <p:ph type="title"/>
          </p:nvPr>
        </p:nvSpPr>
        <p:spPr>
          <a:xfrm>
            <a:off x="1019174" y="533488"/>
            <a:ext cx="8330772" cy="84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Verdana"/>
              <a:buNone/>
              <a:defRPr sz="2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839AA95-56E8-1B3E-FAE9-53726129AA8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r="1168" b="1693"/>
          <a:stretch/>
        </p:blipFill>
        <p:spPr>
          <a:xfrm>
            <a:off x="10196070" y="287536"/>
            <a:ext cx="1666842" cy="592574"/>
          </a:xfrm>
          <a:prstGeom prst="rect">
            <a:avLst/>
          </a:prstGeom>
        </p:spPr>
      </p:pic>
      <p:sp>
        <p:nvSpPr>
          <p:cNvPr id="7" name="Google Shape;60;p7">
            <a:extLst>
              <a:ext uri="{FF2B5EF4-FFF2-40B4-BE49-F238E27FC236}">
                <a16:creationId xmlns:a16="http://schemas.microsoft.com/office/drawing/2014/main" id="{B03A098F-B367-4F6D-98FD-37C79E0C8A9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29584" y="6166658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5556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>
  <p:cSld name="Zwischentitel - grün">
    <p:bg>
      <p:bgPr>
        <a:solidFill>
          <a:srgbClr val="18E797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605200" y="2536825"/>
            <a:ext cx="6228000" cy="5073727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"/>
          <p:cNvSpPr/>
          <p:nvPr/>
        </p:nvSpPr>
        <p:spPr>
          <a:xfrm>
            <a:off x="269479" y="257680"/>
            <a:ext cx="11647785" cy="6331539"/>
          </a:xfrm>
          <a:custGeom>
            <a:avLst/>
            <a:gdLst/>
            <a:ahLst/>
            <a:cxnLst/>
            <a:rect l="l" t="t" r="r" b="b"/>
            <a:pathLst>
              <a:path w="11647785" h="6331539" extrusionOk="0">
                <a:moveTo>
                  <a:pt x="11647785" y="6331540"/>
                </a:moveTo>
                <a:lnTo>
                  <a:pt x="2701721" y="6331540"/>
                </a:lnTo>
                <a:cubicBezTo>
                  <a:pt x="2699098" y="6331540"/>
                  <a:pt x="2696969" y="6329411"/>
                  <a:pt x="2696969" y="6326788"/>
                </a:cubicBezTo>
                <a:cubicBezTo>
                  <a:pt x="2696969" y="6324165"/>
                  <a:pt x="2699098" y="6322036"/>
                  <a:pt x="2701721" y="6322036"/>
                </a:cubicBezTo>
                <a:lnTo>
                  <a:pt x="11638281" y="6322036"/>
                </a:lnTo>
                <a:lnTo>
                  <a:pt x="11638281" y="9504"/>
                </a:lnTo>
                <a:lnTo>
                  <a:pt x="9504" y="9504"/>
                </a:lnTo>
                <a:lnTo>
                  <a:pt x="9504" y="6322036"/>
                </a:lnTo>
                <a:lnTo>
                  <a:pt x="616696" y="6322036"/>
                </a:lnTo>
                <a:cubicBezTo>
                  <a:pt x="619319" y="6322036"/>
                  <a:pt x="621448" y="6324165"/>
                  <a:pt x="621448" y="6326788"/>
                </a:cubicBezTo>
                <a:cubicBezTo>
                  <a:pt x="621448" y="6329411"/>
                  <a:pt x="619319" y="6331540"/>
                  <a:pt x="616696" y="6331540"/>
                </a:cubicBezTo>
                <a:lnTo>
                  <a:pt x="0" y="6331540"/>
                </a:lnTo>
                <a:lnTo>
                  <a:pt x="0" y="0"/>
                </a:lnTo>
                <a:lnTo>
                  <a:pt x="11647785" y="0"/>
                </a:lnTo>
                <a:lnTo>
                  <a:pt x="11647785" y="63315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7" name="Google Shape;47;p5"/>
          <p:cNvSpPr txBox="1">
            <a:spLocks noGrp="1"/>
          </p:cNvSpPr>
          <p:nvPr>
            <p:ph type="title"/>
          </p:nvPr>
        </p:nvSpPr>
        <p:spPr>
          <a:xfrm>
            <a:off x="1019174" y="533488"/>
            <a:ext cx="8330772" cy="84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Verdana"/>
              <a:buNone/>
              <a:defRPr sz="2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2F78FD4C-17F2-9AB6-C93F-20A144842E4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934" t="6899" r="623"/>
          <a:stretch/>
        </p:blipFill>
        <p:spPr>
          <a:xfrm>
            <a:off x="10203690" y="302761"/>
            <a:ext cx="1654696" cy="583224"/>
          </a:xfrm>
          <a:prstGeom prst="rect">
            <a:avLst/>
          </a:prstGeom>
        </p:spPr>
      </p:pic>
      <p:sp>
        <p:nvSpPr>
          <p:cNvPr id="7" name="Google Shape;60;p7">
            <a:extLst>
              <a:ext uri="{FF2B5EF4-FFF2-40B4-BE49-F238E27FC236}">
                <a16:creationId xmlns:a16="http://schemas.microsoft.com/office/drawing/2014/main" id="{59173232-E0CF-C3DF-2C57-6CD02D20AB0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29584" y="6166658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0085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>
  <p:cSld name="Zwischentitel - blau">
    <p:bg>
      <p:bgPr>
        <a:solidFill>
          <a:srgbClr val="007A9E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605200" y="2536825"/>
            <a:ext cx="6228000" cy="5073727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"/>
          <p:cNvSpPr/>
          <p:nvPr/>
        </p:nvSpPr>
        <p:spPr>
          <a:xfrm>
            <a:off x="269479" y="257680"/>
            <a:ext cx="11647785" cy="6331539"/>
          </a:xfrm>
          <a:custGeom>
            <a:avLst/>
            <a:gdLst/>
            <a:ahLst/>
            <a:cxnLst/>
            <a:rect l="l" t="t" r="r" b="b"/>
            <a:pathLst>
              <a:path w="11647785" h="6331539" extrusionOk="0">
                <a:moveTo>
                  <a:pt x="11647785" y="6331540"/>
                </a:moveTo>
                <a:lnTo>
                  <a:pt x="2701721" y="6331540"/>
                </a:lnTo>
                <a:cubicBezTo>
                  <a:pt x="2699098" y="6331540"/>
                  <a:pt x="2696969" y="6329411"/>
                  <a:pt x="2696969" y="6326788"/>
                </a:cubicBezTo>
                <a:cubicBezTo>
                  <a:pt x="2696969" y="6324165"/>
                  <a:pt x="2699098" y="6322036"/>
                  <a:pt x="2701721" y="6322036"/>
                </a:cubicBezTo>
                <a:lnTo>
                  <a:pt x="11638281" y="6322036"/>
                </a:lnTo>
                <a:lnTo>
                  <a:pt x="11638281" y="9504"/>
                </a:lnTo>
                <a:lnTo>
                  <a:pt x="9504" y="9504"/>
                </a:lnTo>
                <a:lnTo>
                  <a:pt x="9504" y="6322036"/>
                </a:lnTo>
                <a:lnTo>
                  <a:pt x="616696" y="6322036"/>
                </a:lnTo>
                <a:cubicBezTo>
                  <a:pt x="619319" y="6322036"/>
                  <a:pt x="621448" y="6324165"/>
                  <a:pt x="621448" y="6326788"/>
                </a:cubicBezTo>
                <a:cubicBezTo>
                  <a:pt x="621448" y="6329411"/>
                  <a:pt x="619319" y="6331540"/>
                  <a:pt x="616696" y="6331540"/>
                </a:cubicBezTo>
                <a:lnTo>
                  <a:pt x="0" y="6331540"/>
                </a:lnTo>
                <a:lnTo>
                  <a:pt x="0" y="0"/>
                </a:lnTo>
                <a:lnTo>
                  <a:pt x="11647785" y="0"/>
                </a:lnTo>
                <a:lnTo>
                  <a:pt x="11647785" y="63315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7" name="Google Shape;47;p5"/>
          <p:cNvSpPr txBox="1">
            <a:spLocks noGrp="1"/>
          </p:cNvSpPr>
          <p:nvPr>
            <p:ph type="title"/>
          </p:nvPr>
        </p:nvSpPr>
        <p:spPr>
          <a:xfrm>
            <a:off x="1019174" y="533488"/>
            <a:ext cx="8330772" cy="84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Verdana"/>
              <a:buNone/>
              <a:defRPr sz="2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9950FE25-7202-9838-476E-FCBBB7AA4DF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t="3736" r="623" b="3087"/>
          <a:stretch/>
        </p:blipFill>
        <p:spPr>
          <a:xfrm>
            <a:off x="10194866" y="311568"/>
            <a:ext cx="1660938" cy="572841"/>
          </a:xfrm>
          <a:prstGeom prst="rect">
            <a:avLst/>
          </a:prstGeom>
        </p:spPr>
      </p:pic>
      <p:sp>
        <p:nvSpPr>
          <p:cNvPr id="8" name="Google Shape;60;p7">
            <a:extLst>
              <a:ext uri="{FF2B5EF4-FFF2-40B4-BE49-F238E27FC236}">
                <a16:creationId xmlns:a16="http://schemas.microsoft.com/office/drawing/2014/main" id="{BFF8EA9B-1C85-4656-0FA5-E04DA75A49D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29584" y="6166658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07595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r dunkel" preserve="1">
  <p:cSld name="Leer hell_2">
    <p:bg>
      <p:bgPr>
        <a:solidFill>
          <a:schemeClr val="bg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42;p5">
            <a:extLst>
              <a:ext uri="{FF2B5EF4-FFF2-40B4-BE49-F238E27FC236}">
                <a16:creationId xmlns:a16="http://schemas.microsoft.com/office/drawing/2014/main" id="{F47AA3BD-061C-FFF1-2597-0E003D1A2DD3}"/>
              </a:ext>
            </a:extLst>
          </p:cNvPr>
          <p:cNvPicPr preferRelativeResize="0"/>
          <p:nvPr userDrawn="1"/>
        </p:nvPicPr>
        <p:blipFill rotWithShape="1"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l="31937" b="16168"/>
          <a:stretch/>
        </p:blipFill>
        <p:spPr>
          <a:xfrm>
            <a:off x="-1" y="260101"/>
            <a:ext cx="6575577" cy="659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rafik 3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DAA60E84-C429-8733-F2F3-E5D8F355959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pic>
        <p:nvPicPr>
          <p:cNvPr id="2" name="Grafik 1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ABD87E73-4FF1-0459-EB99-F0C301A49EF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226606" y="863183"/>
            <a:ext cx="1705178" cy="1138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661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itat mit Bild" userDrawn="1">
  <p:cSld name="Zitat mit Bild">
    <p:bg>
      <p:bgPr>
        <a:solidFill>
          <a:schemeClr val="accent3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"/>
          <p:cNvSpPr>
            <a:spLocks noGrp="1"/>
          </p:cNvSpPr>
          <p:nvPr>
            <p:ph type="pic" idx="2"/>
          </p:nvPr>
        </p:nvSpPr>
        <p:spPr>
          <a:xfrm>
            <a:off x="5976938" y="-1"/>
            <a:ext cx="6215062" cy="68580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76" name="Google Shape;76;p9"/>
          <p:cNvSpPr txBox="1">
            <a:spLocks noGrp="1"/>
          </p:cNvSpPr>
          <p:nvPr>
            <p:ph type="sldNum" idx="12"/>
          </p:nvPr>
        </p:nvSpPr>
        <p:spPr>
          <a:xfrm>
            <a:off x="11524104" y="6459251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 dirty="0"/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5640E307-2BF9-CACF-4C05-D4C13B05D7C1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80C61190-CD21-681A-3A04-E027813C89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5" name="Google Shape;139;p16">
            <a:extLst>
              <a:ext uri="{FF2B5EF4-FFF2-40B4-BE49-F238E27FC236}">
                <a16:creationId xmlns:a16="http://schemas.microsoft.com/office/drawing/2014/main" id="{AE162294-E63D-B8E4-23E2-BCED6DD32EE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" name="Google Shape;140;p16">
            <a:extLst>
              <a:ext uri="{FF2B5EF4-FFF2-40B4-BE49-F238E27FC236}">
                <a16:creationId xmlns:a16="http://schemas.microsoft.com/office/drawing/2014/main" id="{6D2527C2-7F56-98F6-7066-F05A590E2D9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" name="Google Shape;104;p12">
            <a:extLst>
              <a:ext uri="{FF2B5EF4-FFF2-40B4-BE49-F238E27FC236}">
                <a16:creationId xmlns:a16="http://schemas.microsoft.com/office/drawing/2014/main" id="{D6D000BF-D840-4DF0-8271-2A24894291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22350" y="1602999"/>
            <a:ext cx="4793779" cy="3891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" name="Google Shape;84;p10">
            <a:extLst>
              <a:ext uri="{FF2B5EF4-FFF2-40B4-BE49-F238E27FC236}">
                <a16:creationId xmlns:a16="http://schemas.microsoft.com/office/drawing/2014/main" id="{849727FC-1850-35D7-0EE4-5F8881416F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19174" y="595102"/>
            <a:ext cx="4796955" cy="779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Verdana"/>
              <a:buNone/>
              <a:defRPr sz="220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links, 3 Fotos rechts" userDrawn="1">
  <p:cSld name="Text links, 3 Fotos rechts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>
            <a:spLocks noGrp="1"/>
          </p:cNvSpPr>
          <p:nvPr>
            <p:ph type="pic" idx="2"/>
          </p:nvPr>
        </p:nvSpPr>
        <p:spPr>
          <a:xfrm>
            <a:off x="6094800" y="1132645"/>
            <a:ext cx="5616575" cy="501256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83" name="Google Shape;83;p10"/>
          <p:cNvSpPr txBox="1">
            <a:spLocks noGrp="1"/>
          </p:cNvSpPr>
          <p:nvPr>
            <p:ph type="sldNum" idx="12"/>
          </p:nvPr>
        </p:nvSpPr>
        <p:spPr>
          <a:xfrm>
            <a:off x="11531078" y="6417445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title"/>
          </p:nvPr>
        </p:nvSpPr>
        <p:spPr>
          <a:xfrm>
            <a:off x="1019174" y="595102"/>
            <a:ext cx="4796955" cy="779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Verdana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936C69AB-71BA-35D0-5DC2-020FD72727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5" name="Gleichschenkliges Dreieck 4">
            <a:extLst>
              <a:ext uri="{FF2B5EF4-FFF2-40B4-BE49-F238E27FC236}">
                <a16:creationId xmlns:a16="http://schemas.microsoft.com/office/drawing/2014/main" id="{51AF5458-1F33-7EAE-8751-F24D3E564DA2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Grafik 5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AF73E771-922B-A0AC-6CEB-0A89C788A8D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7" name="Google Shape;139;p16">
            <a:extLst>
              <a:ext uri="{FF2B5EF4-FFF2-40B4-BE49-F238E27FC236}">
                <a16:creationId xmlns:a16="http://schemas.microsoft.com/office/drawing/2014/main" id="{4EA795FC-9247-8B6F-D503-8DB8D86A459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" name="Google Shape;140;p16">
            <a:extLst>
              <a:ext uri="{FF2B5EF4-FFF2-40B4-BE49-F238E27FC236}">
                <a16:creationId xmlns:a16="http://schemas.microsoft.com/office/drawing/2014/main" id="{74E7EFAB-5783-4320-7B8C-436DCBD5F8C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" name="Google Shape;104;p12">
            <a:extLst>
              <a:ext uri="{FF2B5EF4-FFF2-40B4-BE49-F238E27FC236}">
                <a16:creationId xmlns:a16="http://schemas.microsoft.com/office/drawing/2014/main" id="{EB61180E-BCC0-FC25-978B-E063025564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22350" y="1602999"/>
            <a:ext cx="4793779" cy="3891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ext links, 3 Fotos rechts" userDrawn="1">
  <p:cSld name="1_Text links, 3 Fotos rechts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>
            <a:spLocks noGrp="1"/>
          </p:cNvSpPr>
          <p:nvPr>
            <p:ph type="pic" idx="2"/>
          </p:nvPr>
        </p:nvSpPr>
        <p:spPr>
          <a:xfrm>
            <a:off x="6094800" y="1132645"/>
            <a:ext cx="5616575" cy="234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92" name="Google Shape;92;p11"/>
          <p:cNvSpPr txBox="1">
            <a:spLocks noGrp="1"/>
          </p:cNvSpPr>
          <p:nvPr>
            <p:ph type="sldNum" idx="12"/>
          </p:nvPr>
        </p:nvSpPr>
        <p:spPr>
          <a:xfrm>
            <a:off x="11531078" y="6417445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title"/>
          </p:nvPr>
        </p:nvSpPr>
        <p:spPr>
          <a:xfrm>
            <a:off x="1019174" y="595102"/>
            <a:ext cx="4796955" cy="779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Verdana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1"/>
          <p:cNvSpPr>
            <a:spLocks noGrp="1"/>
          </p:cNvSpPr>
          <p:nvPr>
            <p:ph type="pic" idx="3"/>
          </p:nvPr>
        </p:nvSpPr>
        <p:spPr>
          <a:xfrm>
            <a:off x="6095999" y="3805207"/>
            <a:ext cx="5615375" cy="234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EC10F341-74D3-D39A-82DD-6DEDDE1DB2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24CE71F0-15EB-9D75-ABB8-6AB53DF35864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FF2E2A29-DC49-1C86-6108-BA6A188D341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5" name="Google Shape;139;p16">
            <a:extLst>
              <a:ext uri="{FF2B5EF4-FFF2-40B4-BE49-F238E27FC236}">
                <a16:creationId xmlns:a16="http://schemas.microsoft.com/office/drawing/2014/main" id="{97DEC054-E745-A070-24FC-86C5322CF82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" name="Google Shape;140;p16">
            <a:extLst>
              <a:ext uri="{FF2B5EF4-FFF2-40B4-BE49-F238E27FC236}">
                <a16:creationId xmlns:a16="http://schemas.microsoft.com/office/drawing/2014/main" id="{DF52E6A9-ECE3-383C-5B55-3BEEFA354C2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104;p12">
            <a:extLst>
              <a:ext uri="{FF2B5EF4-FFF2-40B4-BE49-F238E27FC236}">
                <a16:creationId xmlns:a16="http://schemas.microsoft.com/office/drawing/2014/main" id="{1D8C8578-FBEB-83BF-088F-0FF036B337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22350" y="1602999"/>
            <a:ext cx="4793779" cy="3891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ext links, 3 Fotos rechts" userDrawn="1">
  <p:cSld name="2_Text links, 3 Fotos recht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2"/>
          <p:cNvSpPr>
            <a:spLocks noGrp="1"/>
          </p:cNvSpPr>
          <p:nvPr>
            <p:ph type="pic" idx="2"/>
          </p:nvPr>
        </p:nvSpPr>
        <p:spPr>
          <a:xfrm>
            <a:off x="6094800" y="1132645"/>
            <a:ext cx="5616575" cy="234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02" name="Google Shape;102;p12"/>
          <p:cNvSpPr txBox="1">
            <a:spLocks noGrp="1"/>
          </p:cNvSpPr>
          <p:nvPr>
            <p:ph type="sldNum" idx="12"/>
          </p:nvPr>
        </p:nvSpPr>
        <p:spPr>
          <a:xfrm>
            <a:off x="11531078" y="6417445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03" name="Google Shape;103;p12"/>
          <p:cNvSpPr txBox="1">
            <a:spLocks noGrp="1"/>
          </p:cNvSpPr>
          <p:nvPr>
            <p:ph type="title"/>
          </p:nvPr>
        </p:nvSpPr>
        <p:spPr>
          <a:xfrm>
            <a:off x="1019174" y="595102"/>
            <a:ext cx="4796955" cy="779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Verdana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2"/>
          <p:cNvSpPr>
            <a:spLocks noGrp="1"/>
          </p:cNvSpPr>
          <p:nvPr>
            <p:ph type="pic" idx="3"/>
          </p:nvPr>
        </p:nvSpPr>
        <p:spPr>
          <a:xfrm>
            <a:off x="6096000" y="3805207"/>
            <a:ext cx="2628000" cy="234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06" name="Google Shape;106;p12"/>
          <p:cNvSpPr>
            <a:spLocks noGrp="1"/>
          </p:cNvSpPr>
          <p:nvPr>
            <p:ph type="pic" idx="4"/>
          </p:nvPr>
        </p:nvSpPr>
        <p:spPr>
          <a:xfrm>
            <a:off x="9084575" y="3805207"/>
            <a:ext cx="2628000" cy="234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5E81F2A6-5D28-F8CC-6798-1C5AC63C55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788D9641-BD84-AF99-56EA-32FAB7819B5E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E5A686B0-5E21-A25A-FCD9-784EF64484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5" name="Google Shape;139;p16">
            <a:extLst>
              <a:ext uri="{FF2B5EF4-FFF2-40B4-BE49-F238E27FC236}">
                <a16:creationId xmlns:a16="http://schemas.microsoft.com/office/drawing/2014/main" id="{8F0B0378-24FB-537A-F362-B215B2C87B5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" name="Google Shape;140;p16">
            <a:extLst>
              <a:ext uri="{FF2B5EF4-FFF2-40B4-BE49-F238E27FC236}">
                <a16:creationId xmlns:a16="http://schemas.microsoft.com/office/drawing/2014/main" id="{340496D2-C60D-B8EB-90F8-98409EF5700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104;p12">
            <a:extLst>
              <a:ext uri="{FF2B5EF4-FFF2-40B4-BE49-F238E27FC236}">
                <a16:creationId xmlns:a16="http://schemas.microsoft.com/office/drawing/2014/main" id="{B2B8A8F7-A707-64C7-2AE6-81416C6C55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22350" y="1602999"/>
            <a:ext cx="4793779" cy="3891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rechts, 1 Foto schmal links">
  <p:cSld name="Text rechts, 1 Foto schmal links">
    <p:bg>
      <p:bgPr>
        <a:solidFill>
          <a:schemeClr val="dk2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-2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12191999" h="6858000" extrusionOk="0">
                <a:moveTo>
                  <a:pt x="3945774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8246225" y="6858000"/>
                </a:lnTo>
                <a:lnTo>
                  <a:pt x="3945774" y="6858000"/>
                </a:lnTo>
                <a:lnTo>
                  <a:pt x="0" y="6858000"/>
                </a:lnTo>
                <a:lnTo>
                  <a:pt x="0" y="6367464"/>
                </a:lnTo>
                <a:lnTo>
                  <a:pt x="3945774" y="636746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-1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12191999" h="6858000" extrusionOk="0">
                <a:moveTo>
                  <a:pt x="0" y="0"/>
                </a:moveTo>
                <a:lnTo>
                  <a:pt x="1" y="0"/>
                </a:lnTo>
                <a:lnTo>
                  <a:pt x="1" y="6368304"/>
                </a:lnTo>
                <a:lnTo>
                  <a:pt x="5847965" y="6368304"/>
                </a:lnTo>
                <a:lnTo>
                  <a:pt x="5847965" y="0"/>
                </a:ln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/>
          </a:p>
        </p:txBody>
      </p:sp>
      <p:sp>
        <p:nvSpPr>
          <p:cNvPr id="121" name="Google Shape;121;p14"/>
          <p:cNvSpPr>
            <a:spLocks noGrp="1"/>
          </p:cNvSpPr>
          <p:nvPr>
            <p:ph type="pic" idx="2"/>
          </p:nvPr>
        </p:nvSpPr>
        <p:spPr>
          <a:xfrm>
            <a:off x="0" y="592976"/>
            <a:ext cx="3924300" cy="3498578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14"/>
          <p:cNvSpPr txBox="1">
            <a:spLocks noGrp="1"/>
          </p:cNvSpPr>
          <p:nvPr>
            <p:ph type="sldNum" idx="12"/>
          </p:nvPr>
        </p:nvSpPr>
        <p:spPr>
          <a:xfrm>
            <a:off x="11531078" y="6419049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lvl="1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lvl="2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lvl="3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lvl="4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lvl="5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lvl="6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lvl="7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lvl="8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26" name="Google Shape;126;p14"/>
          <p:cNvSpPr txBox="1">
            <a:spLocks noGrp="1"/>
          </p:cNvSpPr>
          <p:nvPr>
            <p:ph type="title"/>
          </p:nvPr>
        </p:nvSpPr>
        <p:spPr>
          <a:xfrm>
            <a:off x="4390768" y="592976"/>
            <a:ext cx="5721071" cy="77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Verdana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7" name="Google Shape;127;p14"/>
          <p:cNvSpPr txBox="1">
            <a:spLocks noGrp="1"/>
          </p:cNvSpPr>
          <p:nvPr>
            <p:ph type="body" idx="1"/>
          </p:nvPr>
        </p:nvSpPr>
        <p:spPr>
          <a:xfrm>
            <a:off x="4390768" y="1613290"/>
            <a:ext cx="7140832" cy="4531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70840" algn="l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24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SzPts val="1600"/>
              <a:buAutoNum type="arabicPeriod"/>
              <a:defRPr>
                <a:solidFill>
                  <a:schemeClr val="dk1"/>
                </a:solidFill>
              </a:defRPr>
            </a:lvl3pPr>
            <a:lvl4pPr marL="1828800" lvl="3" indent="-228600" algn="l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marL="2286000" lvl="4" indent="-360679" algn="l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8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96EFFF25-385B-B573-04C3-4753EA149D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6" name="Gleichschenkliges Dreieck 5">
            <a:extLst>
              <a:ext uri="{FF2B5EF4-FFF2-40B4-BE49-F238E27FC236}">
                <a16:creationId xmlns:a16="http://schemas.microsoft.com/office/drawing/2014/main" id="{83CF15C8-1379-F561-58A2-DFB58095814D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AEB8A20E-582C-E039-6FFC-7380C391284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8" name="Google Shape;139;p16">
            <a:extLst>
              <a:ext uri="{FF2B5EF4-FFF2-40B4-BE49-F238E27FC236}">
                <a16:creationId xmlns:a16="http://schemas.microsoft.com/office/drawing/2014/main" id="{3E552C7A-FFE6-586F-5603-9B608A414867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" name="Google Shape;140;p16">
            <a:extLst>
              <a:ext uri="{FF2B5EF4-FFF2-40B4-BE49-F238E27FC236}">
                <a16:creationId xmlns:a16="http://schemas.microsoft.com/office/drawing/2014/main" id="{FC3758D3-62C4-4057-E3D4-43C2E1551CB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zweispaltig">
  <p:cSld name="Text zweispaltig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5"/>
          <p:cNvSpPr txBox="1">
            <a:spLocks noGrp="1"/>
          </p:cNvSpPr>
          <p:nvPr>
            <p:ph type="sldNum" idx="12"/>
          </p:nvPr>
        </p:nvSpPr>
        <p:spPr>
          <a:xfrm>
            <a:off x="11531078" y="6417445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34" name="Google Shape;134;p15"/>
          <p:cNvSpPr txBox="1">
            <a:spLocks noGrp="1"/>
          </p:cNvSpPr>
          <p:nvPr>
            <p:ph type="title"/>
          </p:nvPr>
        </p:nvSpPr>
        <p:spPr>
          <a:xfrm>
            <a:off x="1019172" y="595109"/>
            <a:ext cx="8265600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5"/>
          <p:cNvSpPr txBox="1">
            <a:spLocks noGrp="1"/>
          </p:cNvSpPr>
          <p:nvPr>
            <p:ph type="body" idx="1"/>
          </p:nvPr>
        </p:nvSpPr>
        <p:spPr>
          <a:xfrm>
            <a:off x="1019175" y="1602995"/>
            <a:ext cx="10514013" cy="3875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F4340363-2822-D629-90FC-1EE2DE58AE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768B47B0-5C45-757E-2168-FC690B2658C1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D093CCAC-1F8A-7844-9CD6-F93EE61E589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5" name="Google Shape;139;p16">
            <a:extLst>
              <a:ext uri="{FF2B5EF4-FFF2-40B4-BE49-F238E27FC236}">
                <a16:creationId xmlns:a16="http://schemas.microsoft.com/office/drawing/2014/main" id="{9232B03C-5EE7-C1C1-AB07-63C80AECB1E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" name="Google Shape;140;p16">
            <a:extLst>
              <a:ext uri="{FF2B5EF4-FFF2-40B4-BE49-F238E27FC236}">
                <a16:creationId xmlns:a16="http://schemas.microsoft.com/office/drawing/2014/main" id="{B2E387E9-A790-4A41-8D34-2FF789C21CD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dreispaltig" userDrawn="1">
  <p:cSld name="Text dreispaltig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/>
          <p:cNvSpPr txBox="1">
            <a:spLocks noGrp="1"/>
          </p:cNvSpPr>
          <p:nvPr>
            <p:ph type="sldNum" idx="12"/>
          </p:nvPr>
        </p:nvSpPr>
        <p:spPr>
          <a:xfrm>
            <a:off x="11531078" y="6417445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42" name="Google Shape;142;p16"/>
          <p:cNvSpPr txBox="1">
            <a:spLocks noGrp="1"/>
          </p:cNvSpPr>
          <p:nvPr>
            <p:ph type="title"/>
          </p:nvPr>
        </p:nvSpPr>
        <p:spPr>
          <a:xfrm>
            <a:off x="1018800" y="595109"/>
            <a:ext cx="8801100" cy="779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Verdana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A3AAD636-CB52-56E2-93AA-F9B53FE3F2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EA56A580-B1FD-BD2F-7BA8-750C92EA73F5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F86551C4-E7C2-F45F-3239-3286572BD7D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5" name="Google Shape;139;p16"/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" name="Google Shape;140;p16"/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135;p15">
            <a:extLst>
              <a:ext uri="{FF2B5EF4-FFF2-40B4-BE49-F238E27FC236}">
                <a16:creationId xmlns:a16="http://schemas.microsoft.com/office/drawing/2014/main" id="{C252C7A8-9512-D729-3B1C-C6D65FEC7B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19175" y="1602995"/>
            <a:ext cx="10514013" cy="3875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pics mit Bildern">
  <p:cSld name="Topics mit Bildern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"/>
          <p:cNvSpPr txBox="1">
            <a:spLocks noGrp="1"/>
          </p:cNvSpPr>
          <p:nvPr>
            <p:ph type="body" idx="1"/>
          </p:nvPr>
        </p:nvSpPr>
        <p:spPr>
          <a:xfrm>
            <a:off x="476704" y="3752850"/>
            <a:ext cx="3600000" cy="2620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000" rIns="0" bIns="0" anchor="t" anchorCtr="0">
            <a:noAutofit/>
          </a:bodyPr>
          <a:lstStyle>
            <a:lvl1pPr marL="457200" lvl="0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1pPr>
            <a:lvl2pPr marL="914400" lvl="1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  <a:defRPr sz="1600"/>
            </a:lvl2pPr>
            <a:lvl3pPr marL="1371600" lvl="2" indent="-228600" algn="l">
              <a:lnSpc>
                <a:spcPct val="137500"/>
              </a:lnSpc>
              <a:spcBef>
                <a:spcPts val="22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18"/>
          <p:cNvSpPr>
            <a:spLocks noGrp="1"/>
          </p:cNvSpPr>
          <p:nvPr>
            <p:ph type="pic" idx="2"/>
          </p:nvPr>
        </p:nvSpPr>
        <p:spPr>
          <a:xfrm>
            <a:off x="8112125" y="2024063"/>
            <a:ext cx="3600000" cy="17287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59" name="Google Shape;159;p18"/>
          <p:cNvSpPr>
            <a:spLocks noGrp="1"/>
          </p:cNvSpPr>
          <p:nvPr>
            <p:ph type="pic" idx="3"/>
          </p:nvPr>
        </p:nvSpPr>
        <p:spPr>
          <a:xfrm>
            <a:off x="4293394" y="2024063"/>
            <a:ext cx="3600000" cy="17287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60" name="Google Shape;160;p18"/>
          <p:cNvSpPr>
            <a:spLocks noGrp="1"/>
          </p:cNvSpPr>
          <p:nvPr>
            <p:ph type="pic" idx="4"/>
          </p:nvPr>
        </p:nvSpPr>
        <p:spPr>
          <a:xfrm>
            <a:off x="476704" y="2024063"/>
            <a:ext cx="3600000" cy="17287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61" name="Google Shape;161;p18"/>
          <p:cNvSpPr txBox="1">
            <a:spLocks noGrp="1"/>
          </p:cNvSpPr>
          <p:nvPr>
            <p:ph type="dt" idx="10"/>
          </p:nvPr>
        </p:nvSpPr>
        <p:spPr>
          <a:xfrm>
            <a:off x="818403" y="643425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8"/>
          <p:cNvSpPr txBox="1">
            <a:spLocks noGrp="1"/>
          </p:cNvSpPr>
          <p:nvPr>
            <p:ph type="ftr" idx="11"/>
          </p:nvPr>
        </p:nvSpPr>
        <p:spPr>
          <a:xfrm>
            <a:off x="1972067" y="643425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8"/>
          <p:cNvSpPr txBox="1">
            <a:spLocks noGrp="1"/>
          </p:cNvSpPr>
          <p:nvPr>
            <p:ph type="sldNum" idx="12"/>
          </p:nvPr>
        </p:nvSpPr>
        <p:spPr>
          <a:xfrm>
            <a:off x="11531078" y="6417445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65" name="Google Shape;165;p18"/>
          <p:cNvSpPr txBox="1">
            <a:spLocks noGrp="1"/>
          </p:cNvSpPr>
          <p:nvPr>
            <p:ph type="title"/>
          </p:nvPr>
        </p:nvSpPr>
        <p:spPr>
          <a:xfrm>
            <a:off x="1019174" y="592976"/>
            <a:ext cx="8677029" cy="781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66" name="Google Shape;166;p18"/>
          <p:cNvSpPr txBox="1">
            <a:spLocks noGrp="1"/>
          </p:cNvSpPr>
          <p:nvPr>
            <p:ph type="body" idx="5"/>
          </p:nvPr>
        </p:nvSpPr>
        <p:spPr>
          <a:xfrm>
            <a:off x="4293394" y="3752850"/>
            <a:ext cx="3600000" cy="2620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000" rIns="0" bIns="0" anchor="t" anchorCtr="0">
            <a:noAutofit/>
          </a:bodyPr>
          <a:lstStyle>
            <a:lvl1pPr marL="457200" lvl="0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1pPr>
            <a:lvl2pPr marL="914400" lvl="1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  <a:defRPr sz="1600"/>
            </a:lvl2pPr>
            <a:lvl3pPr marL="1371600" lvl="2" indent="-228600" algn="l">
              <a:lnSpc>
                <a:spcPct val="137500"/>
              </a:lnSpc>
              <a:spcBef>
                <a:spcPts val="22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18"/>
          <p:cNvSpPr txBox="1">
            <a:spLocks noGrp="1"/>
          </p:cNvSpPr>
          <p:nvPr>
            <p:ph type="body" idx="6"/>
          </p:nvPr>
        </p:nvSpPr>
        <p:spPr>
          <a:xfrm>
            <a:off x="8112125" y="3752850"/>
            <a:ext cx="3600000" cy="2620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000" rIns="0" bIns="0" anchor="t" anchorCtr="0">
            <a:noAutofit/>
          </a:bodyPr>
          <a:lstStyle>
            <a:lvl1pPr marL="457200" lvl="0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1pPr>
            <a:lvl2pPr marL="914400" lvl="1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  <a:defRPr sz="1600"/>
            </a:lvl2pPr>
            <a:lvl3pPr marL="1371600" lvl="2" indent="-228600" algn="l">
              <a:lnSpc>
                <a:spcPct val="137500"/>
              </a:lnSpc>
              <a:spcBef>
                <a:spcPts val="22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1A161B3C-4DEA-8CC2-40A4-5A0CA16951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pic>
        <p:nvPicPr>
          <p:cNvPr id="4" name="Grafik 3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65559268-D605-04E4-68C9-06F1C92DA7D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72529" y="1006451"/>
            <a:ext cx="1459255" cy="9739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pics ohne Bildern">
  <p:cSld name="Topics ohne Bildern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>
            <a:spLocks noGrp="1"/>
          </p:cNvSpPr>
          <p:nvPr>
            <p:ph type="title"/>
          </p:nvPr>
        </p:nvSpPr>
        <p:spPr>
          <a:xfrm>
            <a:off x="1019176" y="592976"/>
            <a:ext cx="8724528" cy="781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Verdana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71" name="Google Shape;171;p19"/>
          <p:cNvSpPr txBox="1">
            <a:spLocks noGrp="1"/>
          </p:cNvSpPr>
          <p:nvPr>
            <p:ph type="body" idx="1"/>
          </p:nvPr>
        </p:nvSpPr>
        <p:spPr>
          <a:xfrm>
            <a:off x="659724" y="2049779"/>
            <a:ext cx="3420000" cy="3979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1pPr>
            <a:lvl2pPr marL="914400" lvl="1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  <a:defRPr sz="1600"/>
            </a:lvl2pPr>
            <a:lvl3pPr marL="1371600" lvl="2" indent="-228600" algn="l">
              <a:lnSpc>
                <a:spcPct val="137500"/>
              </a:lnSpc>
              <a:spcBef>
                <a:spcPts val="22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72" name="Google Shape;172;p19"/>
          <p:cNvSpPr txBox="1">
            <a:spLocks noGrp="1"/>
          </p:cNvSpPr>
          <p:nvPr>
            <p:ph type="body" idx="2"/>
          </p:nvPr>
        </p:nvSpPr>
        <p:spPr>
          <a:xfrm>
            <a:off x="4470969" y="2049779"/>
            <a:ext cx="3420000" cy="3979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1pPr>
            <a:lvl2pPr marL="914400" lvl="1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  <a:defRPr sz="1600"/>
            </a:lvl2pPr>
            <a:lvl3pPr marL="1371600" lvl="2" indent="-228600" algn="l">
              <a:lnSpc>
                <a:spcPct val="137500"/>
              </a:lnSpc>
              <a:spcBef>
                <a:spcPts val="22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73" name="Google Shape;173;p19"/>
          <p:cNvSpPr txBox="1">
            <a:spLocks noGrp="1"/>
          </p:cNvSpPr>
          <p:nvPr>
            <p:ph type="body" idx="3"/>
          </p:nvPr>
        </p:nvSpPr>
        <p:spPr>
          <a:xfrm>
            <a:off x="8282214" y="2049779"/>
            <a:ext cx="3420000" cy="3979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1pPr>
            <a:lvl2pPr marL="914400" lvl="1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  <a:defRPr sz="1600"/>
            </a:lvl2pPr>
            <a:lvl3pPr marL="1371600" lvl="2" indent="-228600" algn="l">
              <a:lnSpc>
                <a:spcPct val="137500"/>
              </a:lnSpc>
              <a:spcBef>
                <a:spcPts val="22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cxnSp>
        <p:nvCxnSpPr>
          <p:cNvPr id="174" name="Google Shape;174;p19"/>
          <p:cNvCxnSpPr/>
          <p:nvPr/>
        </p:nvCxnSpPr>
        <p:spPr>
          <a:xfrm>
            <a:off x="482148" y="1963972"/>
            <a:ext cx="0" cy="406501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5" name="Google Shape;175;p19"/>
          <p:cNvCxnSpPr/>
          <p:nvPr/>
        </p:nvCxnSpPr>
        <p:spPr>
          <a:xfrm>
            <a:off x="4293394" y="1963972"/>
            <a:ext cx="0" cy="406501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6" name="Google Shape;176;p19"/>
          <p:cNvCxnSpPr/>
          <p:nvPr/>
        </p:nvCxnSpPr>
        <p:spPr>
          <a:xfrm>
            <a:off x="8112125" y="1963972"/>
            <a:ext cx="0" cy="406501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7" name="Google Shape;177;p19"/>
          <p:cNvSpPr txBox="1">
            <a:spLocks noGrp="1"/>
          </p:cNvSpPr>
          <p:nvPr>
            <p:ph type="dt" idx="10"/>
          </p:nvPr>
        </p:nvSpPr>
        <p:spPr>
          <a:xfrm>
            <a:off x="818403" y="643425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19"/>
          <p:cNvSpPr txBox="1">
            <a:spLocks noGrp="1"/>
          </p:cNvSpPr>
          <p:nvPr>
            <p:ph type="ftr" idx="11"/>
          </p:nvPr>
        </p:nvSpPr>
        <p:spPr>
          <a:xfrm>
            <a:off x="1972067" y="643425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9"/>
          <p:cNvSpPr txBox="1">
            <a:spLocks noGrp="1"/>
          </p:cNvSpPr>
          <p:nvPr>
            <p:ph type="sldNum" idx="12"/>
          </p:nvPr>
        </p:nvSpPr>
        <p:spPr>
          <a:xfrm>
            <a:off x="11531078" y="6417445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440CD5CE-2559-B4BA-9CC9-5D0C2ACD86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pic>
        <p:nvPicPr>
          <p:cNvPr id="4" name="Grafik 3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07E29C0B-DCD5-7541-0976-477AB55E9F8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72529" y="1006451"/>
            <a:ext cx="1459255" cy="9739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arbiger Hintergrund">
  <p:cSld name="Farbiger Hintergrund">
    <p:bg>
      <p:bgPr>
        <a:solidFill>
          <a:schemeClr val="lt1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>
            <a:spLocks noGrp="1"/>
          </p:cNvSpPr>
          <p:nvPr>
            <p:ph type="title"/>
          </p:nvPr>
        </p:nvSpPr>
        <p:spPr>
          <a:xfrm>
            <a:off x="1019174" y="484413"/>
            <a:ext cx="8785225" cy="889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Verdana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20"/>
          <p:cNvSpPr>
            <a:spLocks noGrp="1"/>
          </p:cNvSpPr>
          <p:nvPr>
            <p:ph type="pic" idx="2"/>
          </p:nvPr>
        </p:nvSpPr>
        <p:spPr>
          <a:xfrm>
            <a:off x="442913" y="1598686"/>
            <a:ext cx="11269662" cy="474655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84" name="Google Shape;184;p20"/>
          <p:cNvSpPr txBox="1">
            <a:spLocks noGrp="1"/>
          </p:cNvSpPr>
          <p:nvPr>
            <p:ph type="body" idx="1"/>
          </p:nvPr>
        </p:nvSpPr>
        <p:spPr>
          <a:xfrm>
            <a:off x="7908925" y="1781246"/>
            <a:ext cx="4283075" cy="400367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252000" tIns="180000" rIns="468000" bIns="180000" anchor="t" anchorCtr="0">
            <a:noAutofit/>
          </a:bodyPr>
          <a:lstStyle>
            <a:lvl1pPr marL="457200" lvl="0" indent="-22860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>
                <a:solidFill>
                  <a:schemeClr val="lt1"/>
                </a:solidFill>
              </a:defRPr>
            </a:lvl1pPr>
            <a:lvl2pPr marL="914400" lvl="1" indent="-35306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6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8571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  <a:defRPr sz="14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34417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2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5" name="Google Shape;185;p20"/>
          <p:cNvSpPr txBox="1">
            <a:spLocks noGrp="1"/>
          </p:cNvSpPr>
          <p:nvPr>
            <p:ph type="dt" idx="10"/>
          </p:nvPr>
        </p:nvSpPr>
        <p:spPr>
          <a:xfrm>
            <a:off x="4216923" y="6419198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86" name="Google Shape;186;p20"/>
          <p:cNvSpPr txBox="1">
            <a:spLocks noGrp="1"/>
          </p:cNvSpPr>
          <p:nvPr>
            <p:ph type="ftr" idx="11"/>
          </p:nvPr>
        </p:nvSpPr>
        <p:spPr>
          <a:xfrm>
            <a:off x="5370587" y="6419198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20"/>
          <p:cNvSpPr txBox="1">
            <a:spLocks noGrp="1"/>
          </p:cNvSpPr>
          <p:nvPr>
            <p:ph type="sldNum" idx="12"/>
          </p:nvPr>
        </p:nvSpPr>
        <p:spPr>
          <a:xfrm>
            <a:off x="11531078" y="6419198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2D6E7480-AEB2-8D62-6FCF-C7068FEE74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19F5DB62-195F-FD6E-5619-1A35B4AE8B1D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3FDAC246-403F-9041-17EC-DB4B9AFCBA7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">
  <p:cSld name="Titelfolie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017457" y="1152000"/>
            <a:ext cx="6878767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5589" y="5734050"/>
            <a:ext cx="2229230" cy="8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1017456" y="2388247"/>
            <a:ext cx="6878767" cy="755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1pPr>
            <a:lvl2pPr lvl="1" algn="ctr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000"/>
            </a:lvl2pPr>
            <a:lvl3pPr lvl="2" algn="ctr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8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 dirty="0"/>
          </a:p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5589" y="5734050"/>
            <a:ext cx="222923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93831" y="3624398"/>
            <a:ext cx="7516383" cy="3483871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"/>
          <p:cNvSpPr txBox="1">
            <a:spLocks noGrp="1"/>
          </p:cNvSpPr>
          <p:nvPr>
            <p:ph type="dt" idx="10"/>
          </p:nvPr>
        </p:nvSpPr>
        <p:spPr>
          <a:xfrm>
            <a:off x="4186443" y="6416504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3" name="Google Shape;23;p2"/>
          <p:cNvSpPr txBox="1">
            <a:spLocks noGrp="1"/>
          </p:cNvSpPr>
          <p:nvPr>
            <p:ph type="ftr" idx="11"/>
          </p:nvPr>
        </p:nvSpPr>
        <p:spPr>
          <a:xfrm>
            <a:off x="5340107" y="6416504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E81DAFF2-0889-E0F9-8F38-135A72BA98B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026263" y="454152"/>
            <a:ext cx="1705178" cy="60182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9ACFAC27-EC97-9C9F-2A5C-709764FCE5C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10026263" y="1057944"/>
            <a:ext cx="1705178" cy="113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237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453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8298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23755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1112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65561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04620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9129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70199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78494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5647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8772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571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1019174" y="484414"/>
            <a:ext cx="10514014" cy="120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Verdana"/>
              <a:buNone/>
              <a:defRPr sz="2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1019174" y="1690688"/>
            <a:ext cx="10514014" cy="465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70840" algn="l" rtl="0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30200" algn="l" rtl="0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AutoNum type="arabicPeriod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228600" algn="l" rtl="0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60679" algn="l" rtl="0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" name="Google Shape;139;p16">
            <a:extLst>
              <a:ext uri="{FF2B5EF4-FFF2-40B4-BE49-F238E27FC236}">
                <a16:creationId xmlns:a16="http://schemas.microsoft.com/office/drawing/2014/main" id="{A789452D-3A50-1B2E-F5D6-219636FC1D52}"/>
              </a:ext>
            </a:extLst>
          </p:cNvPr>
          <p:cNvSpPr txBox="1">
            <a:spLocks noGrp="1"/>
          </p:cNvSpPr>
          <p:nvPr>
            <p:ph type="dt" idx="2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3" name="Google Shape;140;p16">
            <a:extLst>
              <a:ext uri="{FF2B5EF4-FFF2-40B4-BE49-F238E27FC236}">
                <a16:creationId xmlns:a16="http://schemas.microsoft.com/office/drawing/2014/main" id="{81F1450C-FC39-BA3C-9C56-02766FBE43E4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84" r:id="rId7"/>
    <p:sldLayoutId id="2147483679" r:id="rId8"/>
    <p:sldLayoutId id="2147483682" r:id="rId9"/>
    <p:sldLayoutId id="2147483680" r:id="rId10"/>
    <p:sldLayoutId id="2147483681" r:id="rId11"/>
    <p:sldLayoutId id="2147483686" r:id="rId12"/>
    <p:sldLayoutId id="2147483655" r:id="rId13"/>
    <p:sldLayoutId id="2147483656" r:id="rId14"/>
    <p:sldLayoutId id="2147483657" r:id="rId15"/>
    <p:sldLayoutId id="2147483658" r:id="rId16"/>
    <p:sldLayoutId id="2147483660" r:id="rId17"/>
    <p:sldLayoutId id="2147483661" r:id="rId18"/>
    <p:sldLayoutId id="2147483662" r:id="rId19"/>
    <p:sldLayoutId id="2147483664" r:id="rId20"/>
    <p:sldLayoutId id="2147483665" r:id="rId21"/>
    <p:sldLayoutId id="2147483666" r:id="rId22"/>
    <p:sldLayoutId id="2147483687" r:id="rId23"/>
    <p:sldLayoutId id="2147483688" r:id="rId2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642">
          <p15:clr>
            <a:srgbClr val="F26B43"/>
          </p15:clr>
        </p15:guide>
        <p15:guide id="2" orient="horz" pos="4201">
          <p15:clr>
            <a:srgbClr val="F26B43"/>
          </p15:clr>
        </p15:guide>
        <p15:guide id="3" pos="7265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75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3.svg"/><Relationship Id="rId7" Type="http://schemas.openxmlformats.org/officeDocument/2006/relationships/image" Target="../media/image26.png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5.jpeg"/><Relationship Id="rId5" Type="http://schemas.openxmlformats.org/officeDocument/2006/relationships/image" Target="../media/image15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25.jpe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9.png"/><Relationship Id="rId7" Type="http://schemas.openxmlformats.org/officeDocument/2006/relationships/image" Target="../media/image3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30.png"/><Relationship Id="rId5" Type="http://schemas.openxmlformats.org/officeDocument/2006/relationships/image" Target="../media/image25.jpeg"/><Relationship Id="rId4" Type="http://schemas.openxmlformats.org/officeDocument/2006/relationships/image" Target="../media/image22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hyperlink" Target="https://github.com/aihpi/workshop-getting-started" TargetMode="External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Please group together with your Operating System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MacOS?</a:t>
            </a:r>
          </a:p>
          <a:p>
            <a:r>
              <a:rPr lang="en-US" dirty="0"/>
              <a:t>-&gt; Please sit to the left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Linux?</a:t>
            </a:r>
          </a:p>
          <a:p>
            <a:r>
              <a:rPr lang="en-US" dirty="0"/>
              <a:t>-&gt; Please sit in the middle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dirty="0"/>
              <a:t>Windows?</a:t>
            </a:r>
          </a:p>
          <a:p>
            <a:r>
              <a:rPr lang="en-US" dirty="0"/>
              <a:t>-&gt; Please sit to the right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2307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"/>
          <p:cNvSpPr txBox="1">
            <a:spLocks noGrp="1"/>
          </p:cNvSpPr>
          <p:nvPr>
            <p:ph type="ctrTitle"/>
          </p:nvPr>
        </p:nvSpPr>
        <p:spPr>
          <a:xfrm>
            <a:off x="1017457" y="1152000"/>
            <a:ext cx="6878767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de-DE" dirty="0"/>
              <a:t>First </a:t>
            </a:r>
            <a:r>
              <a:rPr lang="de-DE" dirty="0" err="1"/>
              <a:t>Steps</a:t>
            </a:r>
            <a:r>
              <a:rPr lang="de-DE" dirty="0"/>
              <a:t> </a:t>
            </a:r>
            <a:r>
              <a:rPr lang="de-DE" dirty="0" err="1"/>
              <a:t>Towards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Own AI </a:t>
            </a:r>
            <a:r>
              <a:rPr lang="de-DE" dirty="0" err="1"/>
              <a:t>Application</a:t>
            </a:r>
          </a:p>
        </p:txBody>
      </p:sp>
      <p:sp>
        <p:nvSpPr>
          <p:cNvPr id="193" name="Google Shape;193;p21"/>
          <p:cNvSpPr txBox="1">
            <a:spLocks noGrp="1"/>
          </p:cNvSpPr>
          <p:nvPr>
            <p:ph type="subTitle" idx="1"/>
          </p:nvPr>
        </p:nvSpPr>
        <p:spPr>
          <a:xfrm>
            <a:off x="1017456" y="2388247"/>
            <a:ext cx="6878767" cy="755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de-DE" sz="1800" dirty="0"/>
              <a:t>Setting </a:t>
            </a:r>
            <a:r>
              <a:rPr lang="de-DE" sz="1800" dirty="0" err="1"/>
              <a:t>up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key</a:t>
            </a:r>
            <a:r>
              <a:rPr lang="de-DE" sz="1800" dirty="0"/>
              <a:t> </a:t>
            </a:r>
            <a:r>
              <a:rPr lang="de-DE" sz="1800" dirty="0" err="1"/>
              <a:t>tools</a:t>
            </a:r>
            <a:r>
              <a:rPr lang="de-DE" sz="1800" dirty="0"/>
              <a:t> </a:t>
            </a:r>
            <a:r>
              <a:rPr lang="de-DE" sz="1800" dirty="0" err="1"/>
              <a:t>for</a:t>
            </a:r>
            <a:r>
              <a:rPr lang="de-DE" sz="1800" dirty="0"/>
              <a:t> </a:t>
            </a:r>
            <a:r>
              <a:rPr lang="de-DE" sz="1800" dirty="0" err="1"/>
              <a:t>local</a:t>
            </a:r>
            <a:r>
              <a:rPr lang="de-DE" sz="1800" dirty="0"/>
              <a:t> AI </a:t>
            </a:r>
            <a:r>
              <a:rPr lang="de-DE" sz="1800" dirty="0" err="1"/>
              <a:t>development</a:t>
            </a:r>
            <a:endParaRPr lang="de-DE" dirty="0" err="1"/>
          </a:p>
        </p:txBody>
      </p:sp>
    </p:spTree>
    <p:extLst>
      <p:ext uri="{BB962C8B-B14F-4D97-AF65-F5344CB8AC3E}">
        <p14:creationId xmlns:p14="http://schemas.microsoft.com/office/powerpoint/2010/main" val="2420883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94600CD-3A1A-4F06-B5F6-34063E851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Overview of the AI Service </a:t>
            </a:r>
            <a:r>
              <a:rPr lang="en-GB" dirty="0" err="1"/>
              <a:t>Center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D85433-E576-4D20-B4FF-4881628D91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7186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7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972381" y="0"/>
            <a:ext cx="5219619" cy="6862896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defTabSz="609630">
              <a:buClrTx/>
            </a:pPr>
            <a:endParaRPr lang="de-DE"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" name="AutoShape 3"/>
          <p:cNvSpPr/>
          <p:nvPr/>
        </p:nvSpPr>
        <p:spPr>
          <a:xfrm rot="-10800000">
            <a:off x="7019000" y="26567"/>
            <a:ext cx="5173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defTabSz="609630">
              <a:buClrTx/>
            </a:pPr>
            <a:endParaRPr lang="de-DE"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350201" y="1610608"/>
            <a:ext cx="2325744" cy="3095832"/>
          </a:xfrm>
          <a:custGeom>
            <a:avLst/>
            <a:gdLst/>
            <a:ahLst/>
            <a:cxnLst/>
            <a:rect l="l" t="t" r="r" b="b"/>
            <a:pathLst>
              <a:path w="3488616" h="4643748">
                <a:moveTo>
                  <a:pt x="0" y="0"/>
                </a:moveTo>
                <a:lnTo>
                  <a:pt x="3488616" y="0"/>
                </a:lnTo>
                <a:lnTo>
                  <a:pt x="3488616" y="4643748"/>
                </a:lnTo>
                <a:lnTo>
                  <a:pt x="0" y="46437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>
              <a:buClrTx/>
            </a:pPr>
            <a:endParaRPr lang="de-DE"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" name="Freeform 5"/>
          <p:cNvSpPr/>
          <p:nvPr/>
        </p:nvSpPr>
        <p:spPr>
          <a:xfrm rot="243065">
            <a:off x="350201" y="1667211"/>
            <a:ext cx="2318932" cy="3061297"/>
          </a:xfrm>
          <a:custGeom>
            <a:avLst/>
            <a:gdLst/>
            <a:ahLst/>
            <a:cxnLst/>
            <a:rect l="l" t="t" r="r" b="b"/>
            <a:pathLst>
              <a:path w="3478398" h="4591945">
                <a:moveTo>
                  <a:pt x="0" y="0"/>
                </a:moveTo>
                <a:lnTo>
                  <a:pt x="3478399" y="0"/>
                </a:lnTo>
                <a:lnTo>
                  <a:pt x="3478399" y="4591945"/>
                </a:lnTo>
                <a:lnTo>
                  <a:pt x="0" y="4591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pPr defTabSz="609630">
              <a:buClrTx/>
            </a:pPr>
            <a:endParaRPr lang="de-DE"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079287" y="3022460"/>
            <a:ext cx="2736513" cy="173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1394"/>
              </a:lnSpc>
              <a:buClrTx/>
            </a:pPr>
            <a:r>
              <a:rPr lang="en-US" sz="1161" kern="1200">
                <a:solidFill>
                  <a:srgbClr val="17161C"/>
                </a:solidFill>
                <a:latin typeface="Codec Pro"/>
                <a:ea typeface="+mn-ea"/>
                <a:cs typeface="+mn-cs"/>
              </a:rPr>
              <a:t>WestAI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74339" y="1962908"/>
            <a:ext cx="2736513" cy="414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1084"/>
              </a:lnSpc>
              <a:buClrTx/>
            </a:pPr>
            <a:r>
              <a:rPr lang="en-US" sz="774" kern="1200">
                <a:solidFill>
                  <a:srgbClr val="17161C"/>
                </a:solidFill>
                <a:latin typeface="Codec Pro Bold"/>
                <a:ea typeface="+mn-ea"/>
                <a:cs typeface="+mn-cs"/>
              </a:rPr>
              <a:t>Hannover I Göttingen I Kassel</a:t>
            </a:r>
          </a:p>
          <a:p>
            <a:pPr defTabSz="609630">
              <a:lnSpc>
                <a:spcPts val="1084"/>
              </a:lnSpc>
              <a:spcBef>
                <a:spcPct val="0"/>
              </a:spcBef>
              <a:buClrTx/>
            </a:pPr>
            <a:r>
              <a:rPr lang="en-US" sz="774" kern="1200">
                <a:solidFill>
                  <a:srgbClr val="17161C"/>
                </a:solidFill>
                <a:latin typeface="Codec Pro"/>
                <a:ea typeface="+mn-ea"/>
                <a:cs typeface="+mn-cs"/>
              </a:rPr>
              <a:t>Sensible and Critical Infrastructure</a:t>
            </a:r>
          </a:p>
          <a:p>
            <a:pPr defTabSz="609630">
              <a:lnSpc>
                <a:spcPts val="1084"/>
              </a:lnSpc>
              <a:spcBef>
                <a:spcPct val="0"/>
              </a:spcBef>
              <a:buClrTx/>
            </a:pPr>
            <a:r>
              <a:rPr lang="en-US" sz="774" kern="1200">
                <a:solidFill>
                  <a:srgbClr val="17161C"/>
                </a:solidFill>
                <a:latin typeface="Codec Pro"/>
                <a:ea typeface="+mn-ea"/>
                <a:cs typeface="+mn-cs"/>
              </a:rPr>
              <a:t>Medicine &amp; Energy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079287" y="3588871"/>
            <a:ext cx="2736513" cy="173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1394"/>
              </a:lnSpc>
              <a:buClrTx/>
            </a:pPr>
            <a:r>
              <a:rPr lang="en-US" sz="1161" kern="1200">
                <a:solidFill>
                  <a:srgbClr val="17161C"/>
                </a:solidFill>
                <a:latin typeface="Codec Pro"/>
                <a:ea typeface="+mn-ea"/>
                <a:cs typeface="+mn-cs"/>
              </a:rPr>
              <a:t>hessian.AISC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64061" y="3510629"/>
            <a:ext cx="137072" cy="137072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A6165"/>
            </a:solidFill>
          </p:spPr>
          <p:txBody>
            <a:bodyPr/>
            <a:lstStyle/>
            <a:p>
              <a:pPr defTabSz="609630">
                <a:buClrTx/>
              </a:pPr>
              <a:endParaRPr lang="de-DE"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74"/>
                </a:lnSpc>
                <a:buClrTx/>
              </a:pPr>
              <a:endParaRPr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95393" y="2945813"/>
            <a:ext cx="137072" cy="137072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A6165"/>
            </a:solidFill>
          </p:spPr>
          <p:txBody>
            <a:bodyPr/>
            <a:lstStyle/>
            <a:p>
              <a:pPr defTabSz="609630">
                <a:buClrTx/>
              </a:pPr>
              <a:endParaRPr lang="de-DE"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74"/>
                </a:lnSpc>
                <a:buClrTx/>
              </a:pPr>
              <a:endParaRPr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5" name="AutoShape 15"/>
          <p:cNvSpPr/>
          <p:nvPr/>
        </p:nvSpPr>
        <p:spPr>
          <a:xfrm flipV="1">
            <a:off x="1355717" y="3261249"/>
            <a:ext cx="3530468" cy="0"/>
          </a:xfrm>
          <a:prstGeom prst="line">
            <a:avLst/>
          </a:prstGeom>
          <a:ln w="19050" cap="flat">
            <a:solidFill>
              <a:srgbClr val="DDDAD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>
              <a:buClrTx/>
            </a:pPr>
            <a:endParaRPr lang="de-DE"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4842866" y="3218372"/>
            <a:ext cx="97389" cy="97389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DAD5"/>
            </a:solidFill>
          </p:spPr>
          <p:txBody>
            <a:bodyPr/>
            <a:lstStyle/>
            <a:p>
              <a:pPr defTabSz="609630">
                <a:buClrTx/>
              </a:pPr>
              <a:endParaRPr lang="de-DE"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74"/>
                </a:lnSpc>
                <a:buClrTx/>
              </a:pPr>
              <a:endParaRPr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5074339" y="2611245"/>
            <a:ext cx="2068765" cy="414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1084"/>
              </a:lnSpc>
              <a:buClrTx/>
            </a:pPr>
            <a:r>
              <a:rPr lang="en-US" sz="774" kern="1200" dirty="0">
                <a:solidFill>
                  <a:srgbClr val="17161C"/>
                </a:solidFill>
                <a:latin typeface="Codec Pro Bold"/>
                <a:ea typeface="+mn-ea"/>
                <a:cs typeface="+mn-cs"/>
              </a:rPr>
              <a:t>Berlin I Brandenburg</a:t>
            </a:r>
          </a:p>
          <a:p>
            <a:pPr defTabSz="609630">
              <a:lnSpc>
                <a:spcPts val="1084"/>
              </a:lnSpc>
              <a:buClrTx/>
            </a:pPr>
            <a:r>
              <a:rPr lang="en-US" sz="774" kern="1200" dirty="0">
                <a:solidFill>
                  <a:srgbClr val="17161C"/>
                </a:solidFill>
                <a:latin typeface="Codec Pro"/>
                <a:ea typeface="+mn-ea"/>
                <a:cs typeface="+mn-cs"/>
              </a:rPr>
              <a:t>Education- and Advisory Services,</a:t>
            </a:r>
          </a:p>
          <a:p>
            <a:pPr defTabSz="609630">
              <a:lnSpc>
                <a:spcPts val="1084"/>
              </a:lnSpc>
              <a:spcBef>
                <a:spcPct val="0"/>
              </a:spcBef>
              <a:buClrTx/>
            </a:pPr>
            <a:r>
              <a:rPr lang="en-US" sz="774" kern="1200" dirty="0">
                <a:solidFill>
                  <a:srgbClr val="17161C"/>
                </a:solidFill>
                <a:latin typeface="Codec Pro"/>
                <a:ea typeface="+mn-ea"/>
                <a:cs typeface="+mn-cs"/>
              </a:rPr>
              <a:t>Application of AI in Business &amp; Society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079287" y="2466341"/>
            <a:ext cx="2736513" cy="173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1394"/>
              </a:lnSpc>
              <a:buClrTx/>
            </a:pPr>
            <a:r>
              <a:rPr lang="en-US" sz="1161" kern="1200">
                <a:solidFill>
                  <a:srgbClr val="17161C"/>
                </a:solidFill>
                <a:latin typeface="Codec Pro"/>
                <a:ea typeface="+mn-ea"/>
                <a:cs typeface="+mn-cs"/>
              </a:rPr>
              <a:t>KISZ-BB</a:t>
            </a:r>
          </a:p>
        </p:txBody>
      </p:sp>
      <p:sp>
        <p:nvSpPr>
          <p:cNvPr id="21" name="AutoShape 21"/>
          <p:cNvSpPr/>
          <p:nvPr/>
        </p:nvSpPr>
        <p:spPr>
          <a:xfrm>
            <a:off x="2934231" y="3819789"/>
            <a:ext cx="1951951" cy="0"/>
          </a:xfrm>
          <a:prstGeom prst="line">
            <a:avLst/>
          </a:prstGeom>
          <a:ln w="19050" cap="flat">
            <a:solidFill>
              <a:srgbClr val="DDDAD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>
              <a:buClrTx/>
            </a:pPr>
            <a:endParaRPr lang="de-DE"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grpSp>
        <p:nvGrpSpPr>
          <p:cNvPr id="22" name="Group 22"/>
          <p:cNvGrpSpPr/>
          <p:nvPr/>
        </p:nvGrpSpPr>
        <p:grpSpPr>
          <a:xfrm>
            <a:off x="4842866" y="3771736"/>
            <a:ext cx="97389" cy="97389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DAD5"/>
            </a:solidFill>
          </p:spPr>
          <p:txBody>
            <a:bodyPr/>
            <a:lstStyle/>
            <a:p>
              <a:pPr defTabSz="609630">
                <a:buClrTx/>
              </a:pPr>
              <a:endParaRPr lang="de-DE"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74"/>
                </a:lnSpc>
                <a:buClrTx/>
              </a:pPr>
              <a:endParaRPr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842866" y="2648238"/>
            <a:ext cx="97389" cy="97389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DAD5"/>
            </a:solidFill>
          </p:spPr>
          <p:txBody>
            <a:bodyPr/>
            <a:lstStyle/>
            <a:p>
              <a:pPr defTabSz="609630">
                <a:buClrTx/>
              </a:pPr>
              <a:endParaRPr lang="de-DE"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74"/>
                </a:lnSpc>
                <a:buClrTx/>
              </a:pPr>
              <a:endParaRPr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8" name="AutoShape 28"/>
          <p:cNvSpPr/>
          <p:nvPr/>
        </p:nvSpPr>
        <p:spPr>
          <a:xfrm flipV="1">
            <a:off x="2207726" y="2696932"/>
            <a:ext cx="2678459" cy="6917"/>
          </a:xfrm>
          <a:prstGeom prst="line">
            <a:avLst/>
          </a:prstGeom>
          <a:ln w="19050" cap="flat">
            <a:solidFill>
              <a:srgbClr val="DDDAD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>
              <a:buClrTx/>
            </a:pPr>
            <a:endParaRPr lang="de-DE"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grpSp>
        <p:nvGrpSpPr>
          <p:cNvPr id="29" name="Group 29"/>
          <p:cNvGrpSpPr/>
          <p:nvPr/>
        </p:nvGrpSpPr>
        <p:grpSpPr>
          <a:xfrm>
            <a:off x="4842866" y="1999900"/>
            <a:ext cx="97389" cy="97389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DAD5"/>
            </a:solidFill>
          </p:spPr>
          <p:txBody>
            <a:bodyPr/>
            <a:lstStyle/>
            <a:p>
              <a:pPr defTabSz="609630">
                <a:buClrTx/>
              </a:pPr>
              <a:endParaRPr lang="de-DE"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74"/>
                </a:lnSpc>
                <a:buClrTx/>
              </a:pPr>
              <a:endParaRPr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2" name="AutoShape 32"/>
          <p:cNvSpPr/>
          <p:nvPr/>
        </p:nvSpPr>
        <p:spPr>
          <a:xfrm>
            <a:off x="2383376" y="2055511"/>
            <a:ext cx="2502805" cy="0"/>
          </a:xfrm>
          <a:prstGeom prst="line">
            <a:avLst/>
          </a:prstGeom>
          <a:ln w="19050" cap="flat">
            <a:solidFill>
              <a:srgbClr val="DDDAD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>
              <a:buClrTx/>
            </a:pPr>
            <a:endParaRPr lang="de-DE"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2386174" y="3573563"/>
            <a:ext cx="548056" cy="246226"/>
          </a:xfrm>
          <a:prstGeom prst="line">
            <a:avLst/>
          </a:prstGeom>
          <a:ln w="19050" cap="flat">
            <a:solidFill>
              <a:srgbClr val="DDDAD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>
              <a:buClrTx/>
            </a:pPr>
            <a:endParaRPr lang="de-DE"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4" name="AutoShape 34"/>
          <p:cNvSpPr/>
          <p:nvPr/>
        </p:nvSpPr>
        <p:spPr>
          <a:xfrm flipV="1">
            <a:off x="1101132" y="3572717"/>
            <a:ext cx="1290661" cy="6123"/>
          </a:xfrm>
          <a:prstGeom prst="line">
            <a:avLst/>
          </a:prstGeom>
          <a:ln w="19050" cap="flat">
            <a:solidFill>
              <a:srgbClr val="DDDAD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>
              <a:buClrTx/>
            </a:pPr>
            <a:endParaRPr lang="de-DE"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835312" y="3019497"/>
            <a:ext cx="534199" cy="241265"/>
          </a:xfrm>
          <a:prstGeom prst="line">
            <a:avLst/>
          </a:prstGeom>
          <a:ln w="19050" cap="flat">
            <a:solidFill>
              <a:srgbClr val="DDDAD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>
              <a:buClrTx/>
            </a:pPr>
            <a:endParaRPr lang="de-DE"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6" name="AutoShape 36"/>
          <p:cNvSpPr/>
          <p:nvPr/>
        </p:nvSpPr>
        <p:spPr>
          <a:xfrm flipV="1">
            <a:off x="1408491" y="2057853"/>
            <a:ext cx="978543" cy="927655"/>
          </a:xfrm>
          <a:prstGeom prst="line">
            <a:avLst/>
          </a:prstGeom>
          <a:ln w="19050" cap="flat">
            <a:solidFill>
              <a:srgbClr val="DDDAD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>
              <a:buClrTx/>
            </a:pPr>
            <a:endParaRPr lang="de-DE"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grpSp>
        <p:nvGrpSpPr>
          <p:cNvPr id="37" name="Group 37"/>
          <p:cNvGrpSpPr/>
          <p:nvPr/>
        </p:nvGrpSpPr>
        <p:grpSpPr>
          <a:xfrm>
            <a:off x="1360855" y="2590010"/>
            <a:ext cx="42878" cy="42878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DAD5"/>
            </a:solidFill>
          </p:spPr>
          <p:txBody>
            <a:bodyPr/>
            <a:lstStyle/>
            <a:p>
              <a:pPr defTabSz="609630">
                <a:buClrTx/>
              </a:pPr>
              <a:endParaRPr lang="de-DE"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74"/>
                </a:lnSpc>
                <a:buClrTx/>
              </a:pPr>
              <a:endParaRPr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11158" y="3557726"/>
            <a:ext cx="42878" cy="42878"/>
            <a:chOff x="0" y="0"/>
            <a:chExt cx="812800" cy="812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DAD5"/>
            </a:solidFill>
          </p:spPr>
          <p:txBody>
            <a:bodyPr/>
            <a:lstStyle/>
            <a:p>
              <a:pPr defTabSz="609630">
                <a:buClrTx/>
              </a:pPr>
              <a:endParaRPr lang="de-DE"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74"/>
                </a:lnSpc>
                <a:buClrTx/>
              </a:pPr>
              <a:endParaRPr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42490" y="2992882"/>
            <a:ext cx="42878" cy="42878"/>
            <a:chOff x="0" y="0"/>
            <a:chExt cx="812800" cy="8128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DAD5"/>
            </a:solidFill>
          </p:spPr>
          <p:txBody>
            <a:bodyPr/>
            <a:lstStyle/>
            <a:p>
              <a:pPr defTabSz="609630">
                <a:buClrTx/>
              </a:pPr>
              <a:endParaRPr lang="de-DE"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74"/>
                </a:lnSpc>
                <a:buClrTx/>
              </a:pPr>
              <a:endParaRPr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17932" y="3267066"/>
            <a:ext cx="42878" cy="42878"/>
            <a:chOff x="0" y="0"/>
            <a:chExt cx="812800" cy="8128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DAD5"/>
            </a:solidFill>
          </p:spPr>
          <p:txBody>
            <a:bodyPr/>
            <a:lstStyle/>
            <a:p>
              <a:pPr defTabSz="609630">
                <a:buClrTx/>
              </a:pPr>
              <a:endParaRPr lang="de-DE"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74"/>
                </a:lnSpc>
                <a:buClrTx/>
              </a:pPr>
              <a:endParaRPr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80370" y="3218372"/>
            <a:ext cx="42878" cy="42878"/>
            <a:chOff x="0" y="0"/>
            <a:chExt cx="812800" cy="8128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DAD5"/>
            </a:solidFill>
          </p:spPr>
          <p:txBody>
            <a:bodyPr/>
            <a:lstStyle/>
            <a:p>
              <a:pPr defTabSz="609630">
                <a:buClrTx/>
              </a:pPr>
              <a:endParaRPr lang="de-DE"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74"/>
                </a:lnSpc>
                <a:buClrTx/>
              </a:pPr>
              <a:endParaRPr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07521" y="3158524"/>
            <a:ext cx="42878" cy="42878"/>
            <a:chOff x="0" y="0"/>
            <a:chExt cx="812800" cy="8128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DAD5"/>
            </a:solidFill>
          </p:spPr>
          <p:txBody>
            <a:bodyPr/>
            <a:lstStyle/>
            <a:p>
              <a:pPr defTabSz="609630">
                <a:buClrTx/>
              </a:pPr>
              <a:endParaRPr lang="de-DE"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74"/>
                </a:lnSpc>
                <a:buClrTx/>
              </a:pPr>
              <a:endParaRPr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058254" y="2945814"/>
            <a:ext cx="42878" cy="42878"/>
            <a:chOff x="0" y="0"/>
            <a:chExt cx="812800" cy="8128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DAD5"/>
            </a:solidFill>
          </p:spPr>
          <p:txBody>
            <a:bodyPr/>
            <a:lstStyle/>
            <a:p>
              <a:pPr defTabSz="609630">
                <a:buClrTx/>
              </a:pPr>
              <a:endParaRPr lang="de-DE"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74"/>
                </a:lnSpc>
                <a:buClrTx/>
              </a:pPr>
              <a:endParaRPr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335197" y="2902906"/>
            <a:ext cx="137072" cy="137072"/>
            <a:chOff x="0" y="0"/>
            <a:chExt cx="812800" cy="8128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A6165"/>
            </a:solidFill>
          </p:spPr>
          <p:txBody>
            <a:bodyPr/>
            <a:lstStyle/>
            <a:p>
              <a:pPr defTabSz="609630">
                <a:buClrTx/>
              </a:pPr>
              <a:endParaRPr lang="de-DE"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74"/>
                </a:lnSpc>
                <a:buClrTx/>
              </a:pPr>
              <a:endParaRPr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382294" y="2950003"/>
            <a:ext cx="42878" cy="42878"/>
            <a:chOff x="0" y="0"/>
            <a:chExt cx="812800" cy="8128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DAD5"/>
            </a:solidFill>
          </p:spPr>
          <p:txBody>
            <a:bodyPr/>
            <a:lstStyle/>
            <a:p>
              <a:pPr defTabSz="609630">
                <a:buClrTx/>
              </a:pPr>
              <a:endParaRPr lang="de-DE"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74"/>
                </a:lnSpc>
                <a:buClrTx/>
              </a:pPr>
              <a:endParaRPr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292320" y="3082886"/>
            <a:ext cx="42878" cy="42878"/>
            <a:chOff x="0" y="0"/>
            <a:chExt cx="812800" cy="81280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DAD5"/>
            </a:solidFill>
          </p:spPr>
          <p:txBody>
            <a:bodyPr/>
            <a:lstStyle/>
            <a:p>
              <a:pPr defTabSz="609630">
                <a:buClrTx/>
              </a:pPr>
              <a:endParaRPr lang="de-DE"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74"/>
                </a:lnSpc>
                <a:buClrTx/>
              </a:pPr>
              <a:endParaRPr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67" name="Group 67"/>
          <p:cNvGrpSpPr/>
          <p:nvPr/>
        </p:nvGrpSpPr>
        <p:grpSpPr>
          <a:xfrm rot="5400000">
            <a:off x="1022329" y="2499287"/>
            <a:ext cx="804903" cy="556449"/>
            <a:chOff x="0" y="0"/>
            <a:chExt cx="1148284" cy="793836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1148284" cy="793836"/>
            </a:xfrm>
            <a:custGeom>
              <a:avLst/>
              <a:gdLst/>
              <a:ahLst/>
              <a:cxnLst/>
              <a:rect l="l" t="t" r="r" b="b"/>
              <a:pathLst>
                <a:path w="1148284" h="793836">
                  <a:moveTo>
                    <a:pt x="574142" y="0"/>
                  </a:moveTo>
                  <a:cubicBezTo>
                    <a:pt x="257052" y="0"/>
                    <a:pt x="0" y="177706"/>
                    <a:pt x="0" y="396918"/>
                  </a:cubicBezTo>
                  <a:cubicBezTo>
                    <a:pt x="0" y="616130"/>
                    <a:pt x="257052" y="793836"/>
                    <a:pt x="574142" y="793836"/>
                  </a:cubicBezTo>
                  <a:cubicBezTo>
                    <a:pt x="891232" y="793836"/>
                    <a:pt x="1148284" y="616130"/>
                    <a:pt x="1148284" y="396918"/>
                  </a:cubicBezTo>
                  <a:cubicBezTo>
                    <a:pt x="1148284" y="177706"/>
                    <a:pt x="891232" y="0"/>
                    <a:pt x="574142" y="0"/>
                  </a:cubicBezTo>
                  <a:close/>
                </a:path>
              </a:pathLst>
            </a:custGeom>
            <a:solidFill>
              <a:srgbClr val="DDDAD5">
                <a:alpha val="26667"/>
              </a:srgbClr>
            </a:solidFill>
          </p:spPr>
          <p:txBody>
            <a:bodyPr/>
            <a:lstStyle/>
            <a:p>
              <a:pPr defTabSz="609630">
                <a:buClrTx/>
              </a:pPr>
              <a:endParaRPr lang="de-DE"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7652" y="7747"/>
              <a:ext cx="932981" cy="71166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74"/>
                </a:lnSpc>
                <a:buClrTx/>
              </a:pPr>
              <a:endParaRPr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352637" y="2700390"/>
            <a:ext cx="804903" cy="634296"/>
            <a:chOff x="0" y="0"/>
            <a:chExt cx="1148284" cy="904894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1148284" cy="904894"/>
            </a:xfrm>
            <a:custGeom>
              <a:avLst/>
              <a:gdLst/>
              <a:ahLst/>
              <a:cxnLst/>
              <a:rect l="l" t="t" r="r" b="b"/>
              <a:pathLst>
                <a:path w="1148284" h="904894">
                  <a:moveTo>
                    <a:pt x="574142" y="0"/>
                  </a:moveTo>
                  <a:cubicBezTo>
                    <a:pt x="257052" y="0"/>
                    <a:pt x="0" y="202567"/>
                    <a:pt x="0" y="452447"/>
                  </a:cubicBezTo>
                  <a:cubicBezTo>
                    <a:pt x="0" y="702326"/>
                    <a:pt x="257052" y="904894"/>
                    <a:pt x="574142" y="904894"/>
                  </a:cubicBezTo>
                  <a:cubicBezTo>
                    <a:pt x="891232" y="904894"/>
                    <a:pt x="1148284" y="702326"/>
                    <a:pt x="1148284" y="452447"/>
                  </a:cubicBezTo>
                  <a:cubicBezTo>
                    <a:pt x="1148284" y="202567"/>
                    <a:pt x="891232" y="0"/>
                    <a:pt x="574142" y="0"/>
                  </a:cubicBezTo>
                  <a:close/>
                </a:path>
              </a:pathLst>
            </a:custGeom>
            <a:solidFill>
              <a:srgbClr val="DDDAD5">
                <a:alpha val="26667"/>
              </a:srgbClr>
            </a:solidFill>
          </p:spPr>
          <p:txBody>
            <a:bodyPr/>
            <a:lstStyle/>
            <a:p>
              <a:pPr defTabSz="609630">
                <a:buClrTx/>
              </a:pPr>
              <a:endParaRPr lang="de-DE"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7652" y="18159"/>
              <a:ext cx="932981" cy="801901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74"/>
                </a:lnSpc>
                <a:buClrTx/>
              </a:pPr>
              <a:endParaRPr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2124469" y="2640440"/>
            <a:ext cx="137072" cy="137072"/>
            <a:chOff x="0" y="0"/>
            <a:chExt cx="812800" cy="81280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A6165"/>
            </a:solidFill>
          </p:spPr>
          <p:txBody>
            <a:bodyPr/>
            <a:lstStyle/>
            <a:p>
              <a:pPr defTabSz="609630">
                <a:buClrTx/>
              </a:pPr>
              <a:endParaRPr lang="de-DE"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74"/>
                </a:lnSpc>
                <a:buClrTx/>
              </a:pPr>
              <a:endParaRPr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2171567" y="2687537"/>
            <a:ext cx="42878" cy="42878"/>
            <a:chOff x="0" y="0"/>
            <a:chExt cx="812800" cy="81280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DAD5"/>
            </a:solidFill>
          </p:spPr>
          <p:txBody>
            <a:bodyPr/>
            <a:lstStyle/>
            <a:p>
              <a:pPr defTabSz="609630">
                <a:buClrTx/>
              </a:pPr>
              <a:endParaRPr lang="de-DE"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74"/>
                </a:lnSpc>
                <a:buClrTx/>
              </a:pPr>
              <a:endParaRPr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9" name="Freeform 79"/>
          <p:cNvSpPr/>
          <p:nvPr/>
        </p:nvSpPr>
        <p:spPr>
          <a:xfrm>
            <a:off x="2116887" y="2615223"/>
            <a:ext cx="181679" cy="177251"/>
          </a:xfrm>
          <a:custGeom>
            <a:avLst/>
            <a:gdLst/>
            <a:ahLst/>
            <a:cxnLst/>
            <a:rect l="l" t="t" r="r" b="b"/>
            <a:pathLst>
              <a:path w="272519" h="265877">
                <a:moveTo>
                  <a:pt x="0" y="0"/>
                </a:moveTo>
                <a:lnTo>
                  <a:pt x="272519" y="0"/>
                </a:lnTo>
                <a:lnTo>
                  <a:pt x="272519" y="265878"/>
                </a:lnTo>
                <a:lnTo>
                  <a:pt x="0" y="2658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75853"/>
            </a:stretch>
          </a:blipFill>
        </p:spPr>
        <p:txBody>
          <a:bodyPr/>
          <a:lstStyle/>
          <a:p>
            <a:pPr defTabSz="609630">
              <a:buClrTx/>
            </a:pPr>
            <a:endParaRPr lang="de-DE"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grpSp>
        <p:nvGrpSpPr>
          <p:cNvPr id="80" name="Group 80"/>
          <p:cNvGrpSpPr/>
          <p:nvPr/>
        </p:nvGrpSpPr>
        <p:grpSpPr>
          <a:xfrm>
            <a:off x="8646531" y="3980689"/>
            <a:ext cx="1034084" cy="1034084"/>
            <a:chOff x="0" y="0"/>
            <a:chExt cx="2068168" cy="2068168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2068168" cy="2068168"/>
            </a:xfrm>
            <a:custGeom>
              <a:avLst/>
              <a:gdLst/>
              <a:ahLst/>
              <a:cxnLst/>
              <a:rect l="l" t="t" r="r" b="b"/>
              <a:pathLst>
                <a:path w="2068168" h="2068168">
                  <a:moveTo>
                    <a:pt x="0" y="0"/>
                  </a:moveTo>
                  <a:lnTo>
                    <a:pt x="2068168" y="0"/>
                  </a:lnTo>
                  <a:lnTo>
                    <a:pt x="2068168" y="2068168"/>
                  </a:lnTo>
                  <a:lnTo>
                    <a:pt x="0" y="2068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 defTabSz="609630">
                <a:buClrTx/>
              </a:pPr>
              <a:endParaRPr lang="de-DE"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26588" y="858432"/>
              <a:ext cx="1814996" cy="320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609630">
                <a:lnSpc>
                  <a:spcPts val="1342"/>
                </a:lnSpc>
                <a:spcBef>
                  <a:spcPct val="0"/>
                </a:spcBef>
                <a:buClrTx/>
              </a:pPr>
              <a:r>
                <a:rPr lang="en-US" sz="1040" kern="1200" spc="40">
                  <a:solidFill>
                    <a:srgbClr val="FFFFFF"/>
                  </a:solidFill>
                  <a:latin typeface="Aileron Bold"/>
                  <a:ea typeface="+mn-ea"/>
                  <a:cs typeface="+mn-cs"/>
                </a:rPr>
                <a:t>RESEARCH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7612447" y="2946605"/>
            <a:ext cx="1034084" cy="1034084"/>
            <a:chOff x="0" y="0"/>
            <a:chExt cx="2068168" cy="2068168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2068168" cy="2068168"/>
            </a:xfrm>
            <a:custGeom>
              <a:avLst/>
              <a:gdLst/>
              <a:ahLst/>
              <a:cxnLst/>
              <a:rect l="l" t="t" r="r" b="b"/>
              <a:pathLst>
                <a:path w="2068168" h="2068168">
                  <a:moveTo>
                    <a:pt x="0" y="0"/>
                  </a:moveTo>
                  <a:lnTo>
                    <a:pt x="2068168" y="0"/>
                  </a:lnTo>
                  <a:lnTo>
                    <a:pt x="2068168" y="2068168"/>
                  </a:lnTo>
                  <a:lnTo>
                    <a:pt x="0" y="2068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defTabSz="609630">
                <a:buClrTx/>
              </a:pPr>
              <a:endParaRPr lang="de-DE"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90904" y="839948"/>
              <a:ext cx="1686364" cy="320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609630">
                <a:lnSpc>
                  <a:spcPts val="1342"/>
                </a:lnSpc>
                <a:spcBef>
                  <a:spcPct val="0"/>
                </a:spcBef>
                <a:buClrTx/>
              </a:pPr>
              <a:r>
                <a:rPr lang="en-US" sz="1040" kern="1200" spc="40">
                  <a:solidFill>
                    <a:srgbClr val="FFFFFF"/>
                  </a:solidFill>
                  <a:latin typeface="Aileron Bold"/>
                  <a:ea typeface="+mn-ea"/>
                  <a:cs typeface="+mn-cs"/>
                </a:rPr>
                <a:t>EDUCATION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9672454" y="2938525"/>
            <a:ext cx="1050405" cy="1034084"/>
            <a:chOff x="0" y="0"/>
            <a:chExt cx="2100809" cy="2068168"/>
          </a:xfrm>
        </p:grpSpPr>
        <p:sp>
          <p:nvSpPr>
            <p:cNvPr id="87" name="Freeform 87"/>
            <p:cNvSpPr/>
            <p:nvPr/>
          </p:nvSpPr>
          <p:spPr>
            <a:xfrm>
              <a:off x="16321" y="0"/>
              <a:ext cx="2068168" cy="2068168"/>
            </a:xfrm>
            <a:custGeom>
              <a:avLst/>
              <a:gdLst/>
              <a:ahLst/>
              <a:cxnLst/>
              <a:rect l="l" t="t" r="r" b="b"/>
              <a:pathLst>
                <a:path w="2068168" h="2068168">
                  <a:moveTo>
                    <a:pt x="0" y="0"/>
                  </a:moveTo>
                  <a:lnTo>
                    <a:pt x="2068167" y="0"/>
                  </a:lnTo>
                  <a:lnTo>
                    <a:pt x="2068167" y="2068168"/>
                  </a:lnTo>
                  <a:lnTo>
                    <a:pt x="0" y="2068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defTabSz="609630">
                <a:buClrTx/>
              </a:pPr>
              <a:endParaRPr lang="de-DE"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0" y="909228"/>
              <a:ext cx="2100809" cy="2460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609630">
                <a:lnSpc>
                  <a:spcPts val="1023"/>
                </a:lnSpc>
                <a:spcBef>
                  <a:spcPct val="0"/>
                </a:spcBef>
                <a:buClrTx/>
              </a:pPr>
              <a:r>
                <a:rPr lang="en-US" sz="793" kern="1200" spc="31">
                  <a:solidFill>
                    <a:srgbClr val="FFFFFF"/>
                  </a:solidFill>
                  <a:latin typeface="Aileron Bold"/>
                  <a:ea typeface="+mn-ea"/>
                  <a:cs typeface="+mn-cs"/>
                </a:rPr>
                <a:t>INFRASTRUCTURE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8646531" y="1912521"/>
            <a:ext cx="1034084" cy="1034084"/>
            <a:chOff x="0" y="0"/>
            <a:chExt cx="2068168" cy="2068168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2068168" cy="2068168"/>
            </a:xfrm>
            <a:custGeom>
              <a:avLst/>
              <a:gdLst/>
              <a:ahLst/>
              <a:cxnLst/>
              <a:rect l="l" t="t" r="r" b="b"/>
              <a:pathLst>
                <a:path w="2068168" h="2068168">
                  <a:moveTo>
                    <a:pt x="0" y="0"/>
                  </a:moveTo>
                  <a:lnTo>
                    <a:pt x="2068168" y="0"/>
                  </a:lnTo>
                  <a:lnTo>
                    <a:pt x="2068168" y="2068168"/>
                  </a:lnTo>
                  <a:lnTo>
                    <a:pt x="0" y="2068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defTabSz="609630">
                <a:buClrTx/>
              </a:pPr>
              <a:endParaRPr lang="de-DE"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53422" y="858432"/>
              <a:ext cx="1961328" cy="320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609630">
                <a:lnSpc>
                  <a:spcPts val="1342"/>
                </a:lnSpc>
                <a:spcBef>
                  <a:spcPct val="0"/>
                </a:spcBef>
                <a:buClrTx/>
              </a:pPr>
              <a:r>
                <a:rPr lang="en-US" sz="1040" kern="1200" spc="40">
                  <a:solidFill>
                    <a:srgbClr val="FFFFFF"/>
                  </a:solidFill>
                  <a:latin typeface="Aileron Bold"/>
                  <a:ea typeface="+mn-ea"/>
                  <a:cs typeface="+mn-cs"/>
                </a:rPr>
                <a:t>ADVISORY</a:t>
              </a:r>
            </a:p>
          </p:txBody>
        </p:sp>
      </p:grpSp>
      <p:sp>
        <p:nvSpPr>
          <p:cNvPr id="92" name="TextBox 92"/>
          <p:cNvSpPr txBox="1"/>
          <p:nvPr/>
        </p:nvSpPr>
        <p:spPr>
          <a:xfrm>
            <a:off x="4079287" y="1824921"/>
            <a:ext cx="668018" cy="173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1394"/>
              </a:lnSpc>
              <a:buClrTx/>
            </a:pPr>
            <a:r>
              <a:rPr lang="en-US" sz="1161" kern="1200">
                <a:solidFill>
                  <a:srgbClr val="17161C"/>
                </a:solidFill>
                <a:latin typeface="Codec Pro"/>
                <a:ea typeface="+mn-ea"/>
                <a:cs typeface="+mn-cs"/>
              </a:rPr>
              <a:t>KISSKI 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5074339" y="3775880"/>
            <a:ext cx="2736513" cy="414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1084"/>
              </a:lnSpc>
              <a:spcBef>
                <a:spcPct val="0"/>
              </a:spcBef>
              <a:buClrTx/>
            </a:pPr>
            <a:r>
              <a:rPr lang="en-US" sz="774" kern="1200">
                <a:solidFill>
                  <a:srgbClr val="17161C"/>
                </a:solidFill>
                <a:latin typeface="Codec Pro Bold"/>
                <a:ea typeface="+mn-ea"/>
                <a:cs typeface="+mn-cs"/>
              </a:rPr>
              <a:t>Darmstadt</a:t>
            </a:r>
          </a:p>
          <a:p>
            <a:pPr defTabSz="609630">
              <a:lnSpc>
                <a:spcPts val="1084"/>
              </a:lnSpc>
              <a:spcBef>
                <a:spcPct val="0"/>
              </a:spcBef>
              <a:buClrTx/>
            </a:pPr>
            <a:r>
              <a:rPr lang="en-US" sz="774" kern="1200">
                <a:solidFill>
                  <a:srgbClr val="17161C"/>
                </a:solidFill>
                <a:latin typeface="Codec Pro"/>
                <a:ea typeface="+mn-ea"/>
                <a:cs typeface="+mn-cs"/>
              </a:rPr>
              <a:t>Explainability, Generalisability</a:t>
            </a:r>
          </a:p>
          <a:p>
            <a:pPr defTabSz="609630">
              <a:lnSpc>
                <a:spcPts val="1084"/>
              </a:lnSpc>
              <a:spcBef>
                <a:spcPct val="0"/>
              </a:spcBef>
              <a:buClrTx/>
            </a:pPr>
            <a:r>
              <a:rPr lang="en-US" sz="774" kern="1200">
                <a:solidFill>
                  <a:srgbClr val="17161C"/>
                </a:solidFill>
                <a:latin typeface="Codec Pro"/>
                <a:ea typeface="+mn-ea"/>
                <a:cs typeface="+mn-cs"/>
              </a:rPr>
              <a:t>and Contextual Adaptation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5074339" y="3199301"/>
            <a:ext cx="1741461" cy="696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1083"/>
              </a:lnSpc>
              <a:buClrTx/>
            </a:pPr>
            <a:r>
              <a:rPr lang="en-US" sz="773" kern="1200">
                <a:solidFill>
                  <a:srgbClr val="17161C"/>
                </a:solidFill>
                <a:latin typeface="Codec Pro Bold"/>
                <a:ea typeface="+mn-ea"/>
                <a:cs typeface="+mn-cs"/>
              </a:rPr>
              <a:t>Bonn | Fraunhofer | Aachen | Jülich | Dortmund | Paderborn </a:t>
            </a:r>
          </a:p>
          <a:p>
            <a:pPr defTabSz="609630">
              <a:lnSpc>
                <a:spcPts val="1083"/>
              </a:lnSpc>
              <a:buClrTx/>
            </a:pPr>
            <a:r>
              <a:rPr lang="en-US" sz="773" kern="1200">
                <a:solidFill>
                  <a:srgbClr val="17161C"/>
                </a:solidFill>
                <a:latin typeface="Codec Pro"/>
                <a:ea typeface="+mn-ea"/>
                <a:cs typeface="+mn-cs"/>
              </a:rPr>
              <a:t>Multimodal, Large and Transferable AI Models</a:t>
            </a:r>
          </a:p>
          <a:p>
            <a:pPr defTabSz="609630">
              <a:lnSpc>
                <a:spcPts val="1083"/>
              </a:lnSpc>
              <a:spcBef>
                <a:spcPct val="0"/>
              </a:spcBef>
              <a:buClrTx/>
            </a:pPr>
            <a:endParaRPr lang="en-US" sz="773" kern="1200">
              <a:solidFill>
                <a:srgbClr val="17161C"/>
              </a:solidFill>
              <a:latin typeface="Codec Pro"/>
              <a:ea typeface="+mn-ea"/>
              <a:cs typeface="+mn-cs"/>
            </a:endParaRPr>
          </a:p>
        </p:txBody>
      </p:sp>
      <p:sp>
        <p:nvSpPr>
          <p:cNvPr id="95" name="TextBox 95"/>
          <p:cNvSpPr txBox="1"/>
          <p:nvPr/>
        </p:nvSpPr>
        <p:spPr>
          <a:xfrm>
            <a:off x="685800" y="635000"/>
            <a:ext cx="8603811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4320"/>
              </a:lnSpc>
              <a:buClrTx/>
            </a:pPr>
            <a:r>
              <a:rPr lang="en-US" sz="3600" kern="1200" dirty="0">
                <a:solidFill>
                  <a:srgbClr val="17161C"/>
                </a:solidFill>
                <a:latin typeface="Codec Pro"/>
                <a:ea typeface="+mn-ea"/>
                <a:cs typeface="+mn-cs"/>
              </a:rPr>
              <a:t>AI-Service Centers</a:t>
            </a:r>
            <a:endParaRPr lang="en-US" sz="3600" kern="1200" dirty="0" err="1">
              <a:solidFill>
                <a:srgbClr val="17161C"/>
              </a:solidFill>
              <a:latin typeface="Codec Pro"/>
              <a:ea typeface="+mn-ea"/>
              <a:cs typeface="+mn-cs"/>
            </a:endParaRPr>
          </a:p>
        </p:txBody>
      </p:sp>
      <p:sp>
        <p:nvSpPr>
          <p:cNvPr id="96" name="Freeform 96"/>
          <p:cNvSpPr/>
          <p:nvPr/>
        </p:nvSpPr>
        <p:spPr>
          <a:xfrm>
            <a:off x="-69849" y="4416212"/>
            <a:ext cx="2528983" cy="2528983"/>
          </a:xfrm>
          <a:custGeom>
            <a:avLst/>
            <a:gdLst/>
            <a:ahLst/>
            <a:cxnLst/>
            <a:rect l="l" t="t" r="r" b="b"/>
            <a:pathLst>
              <a:path w="3793475" h="3793475">
                <a:moveTo>
                  <a:pt x="0" y="0"/>
                </a:moveTo>
                <a:lnTo>
                  <a:pt x="3793475" y="0"/>
                </a:lnTo>
                <a:lnTo>
                  <a:pt x="3793475" y="3793474"/>
                </a:lnTo>
                <a:lnTo>
                  <a:pt x="0" y="37934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>
              <a:buClrTx/>
            </a:pPr>
            <a:endParaRPr lang="de-DE"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97" name="Freeform 97"/>
          <p:cNvSpPr/>
          <p:nvPr/>
        </p:nvSpPr>
        <p:spPr>
          <a:xfrm>
            <a:off x="12577" y="5637019"/>
            <a:ext cx="1791995" cy="1271279"/>
          </a:xfrm>
          <a:custGeom>
            <a:avLst/>
            <a:gdLst/>
            <a:ahLst/>
            <a:cxnLst/>
            <a:rect l="l" t="t" r="r" b="b"/>
            <a:pathLst>
              <a:path w="2687992" h="1906918">
                <a:moveTo>
                  <a:pt x="0" y="0"/>
                </a:moveTo>
                <a:lnTo>
                  <a:pt x="2687992" y="0"/>
                </a:lnTo>
                <a:lnTo>
                  <a:pt x="2687992" y="1906918"/>
                </a:lnTo>
                <a:lnTo>
                  <a:pt x="0" y="190691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594" r="-1594"/>
            </a:stretch>
          </a:blipFill>
        </p:spPr>
        <p:txBody>
          <a:bodyPr/>
          <a:lstStyle/>
          <a:p>
            <a:pPr defTabSz="609630">
              <a:buClrTx/>
            </a:pPr>
            <a:endParaRPr lang="de-DE"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98" name="Freeform 98"/>
          <p:cNvSpPr/>
          <p:nvPr/>
        </p:nvSpPr>
        <p:spPr>
          <a:xfrm>
            <a:off x="10720750" y="268864"/>
            <a:ext cx="1178860" cy="416936"/>
          </a:xfrm>
          <a:custGeom>
            <a:avLst/>
            <a:gdLst/>
            <a:ahLst/>
            <a:cxnLst/>
            <a:rect l="l" t="t" r="r" b="b"/>
            <a:pathLst>
              <a:path w="1768290" h="625404">
                <a:moveTo>
                  <a:pt x="0" y="0"/>
                </a:moveTo>
                <a:lnTo>
                  <a:pt x="1768290" y="0"/>
                </a:lnTo>
                <a:lnTo>
                  <a:pt x="1768290" y="625404"/>
                </a:lnTo>
                <a:lnTo>
                  <a:pt x="0" y="6254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 defTabSz="609630">
              <a:buClrTx/>
            </a:pPr>
            <a:endParaRPr lang="de-DE"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99" name="TextBox 99"/>
          <p:cNvSpPr txBox="1"/>
          <p:nvPr/>
        </p:nvSpPr>
        <p:spPr>
          <a:xfrm>
            <a:off x="11085546" y="845748"/>
            <a:ext cx="814064" cy="372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defTabSz="609630">
              <a:lnSpc>
                <a:spcPts val="1474"/>
              </a:lnSpc>
              <a:buClrTx/>
            </a:pPr>
            <a:r>
              <a:rPr lang="en-US" sz="1053" u="sng" kern="1200">
                <a:solidFill>
                  <a:srgbClr val="B0073A"/>
                </a:solidFill>
                <a:latin typeface="Codec Pro Bold"/>
                <a:ea typeface="+mn-ea"/>
                <a:cs typeface="+mn-cs"/>
              </a:rPr>
              <a:t>kisz@hpi.de</a:t>
            </a:r>
            <a:r>
              <a:rPr lang="en-US" sz="1053" kern="1200">
                <a:solidFill>
                  <a:srgbClr val="B0073A"/>
                </a:solidFill>
                <a:latin typeface="Codec Pro Bold"/>
                <a:ea typeface="+mn-ea"/>
                <a:cs typeface="+mn-cs"/>
              </a:rPr>
              <a:t>    </a:t>
            </a:r>
            <a:r>
              <a:rPr lang="en-US" sz="1053" u="sng" kern="1200">
                <a:solidFill>
                  <a:srgbClr val="B0073A"/>
                </a:solidFill>
                <a:latin typeface="Codec Pro Bold"/>
                <a:ea typeface="+mn-ea"/>
                <a:cs typeface="+mn-cs"/>
              </a:rPr>
              <a:t>hpi.de/kisz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87426" y="6568750"/>
            <a:ext cx="1874045" cy="131707"/>
          </a:xfrm>
          <a:custGeom>
            <a:avLst/>
            <a:gdLst/>
            <a:ahLst/>
            <a:cxnLst/>
            <a:rect l="l" t="t" r="r" b="b"/>
            <a:pathLst>
              <a:path w="2811067" h="197560">
                <a:moveTo>
                  <a:pt x="0" y="0"/>
                </a:moveTo>
                <a:lnTo>
                  <a:pt x="2811067" y="0"/>
                </a:lnTo>
                <a:lnTo>
                  <a:pt x="2811067" y="197560"/>
                </a:lnTo>
                <a:lnTo>
                  <a:pt x="0" y="1975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933"/>
          </a:p>
        </p:txBody>
      </p:sp>
      <p:grpSp>
        <p:nvGrpSpPr>
          <p:cNvPr id="3" name="Group 3"/>
          <p:cNvGrpSpPr/>
          <p:nvPr/>
        </p:nvGrpSpPr>
        <p:grpSpPr>
          <a:xfrm>
            <a:off x="5163723" y="408214"/>
            <a:ext cx="7287890" cy="7035193"/>
            <a:chOff x="0" y="0"/>
            <a:chExt cx="2879166" cy="277933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79166" cy="2779336"/>
            </a:xfrm>
            <a:custGeom>
              <a:avLst/>
              <a:gdLst/>
              <a:ahLst/>
              <a:cxnLst/>
              <a:rect l="l" t="t" r="r" b="b"/>
              <a:pathLst>
                <a:path w="2879166" h="2779336">
                  <a:moveTo>
                    <a:pt x="0" y="0"/>
                  </a:moveTo>
                  <a:lnTo>
                    <a:pt x="2879166" y="0"/>
                  </a:lnTo>
                  <a:lnTo>
                    <a:pt x="2879166" y="2779336"/>
                  </a:lnTo>
                  <a:lnTo>
                    <a:pt x="0" y="27793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de-DE" sz="933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2879166" cy="2846011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474"/>
                </a:lnSpc>
              </a:pPr>
              <a:endParaRPr sz="933"/>
            </a:p>
          </p:txBody>
        </p:sp>
      </p:grpSp>
      <p:sp>
        <p:nvSpPr>
          <p:cNvPr id="6" name="AutoShape 6"/>
          <p:cNvSpPr/>
          <p:nvPr/>
        </p:nvSpPr>
        <p:spPr>
          <a:xfrm rot="-10800000">
            <a:off x="0" y="0"/>
            <a:ext cx="5186198" cy="6858000"/>
          </a:xfrm>
          <a:prstGeom prst="rect">
            <a:avLst/>
          </a:prstGeom>
          <a:solidFill>
            <a:srgbClr val="DC640D"/>
          </a:solidFill>
        </p:spPr>
        <p:txBody>
          <a:bodyPr/>
          <a:lstStyle/>
          <a:p>
            <a:endParaRPr lang="de-DE" sz="933"/>
          </a:p>
        </p:txBody>
      </p:sp>
      <p:sp>
        <p:nvSpPr>
          <p:cNvPr id="7" name="TextBox 7"/>
          <p:cNvSpPr txBox="1"/>
          <p:nvPr/>
        </p:nvSpPr>
        <p:spPr>
          <a:xfrm>
            <a:off x="332637" y="641350"/>
            <a:ext cx="5666570" cy="398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99"/>
              </a:lnSpc>
            </a:pPr>
            <a:r>
              <a:rPr lang="en-US" sz="2666">
                <a:solidFill>
                  <a:srgbClr val="FFFFFF"/>
                </a:solidFill>
                <a:latin typeface="Codec Pro"/>
              </a:rPr>
              <a:t>ADVISORY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955182" y="1460263"/>
            <a:ext cx="3980097" cy="4383994"/>
            <a:chOff x="0" y="0"/>
            <a:chExt cx="4977886" cy="59958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03010" cy="802362"/>
            </a:xfrm>
            <a:custGeom>
              <a:avLst/>
              <a:gdLst/>
              <a:ahLst/>
              <a:cxnLst/>
              <a:rect l="l" t="t" r="r" b="b"/>
              <a:pathLst>
                <a:path w="2803010" h="802362">
                  <a:moveTo>
                    <a:pt x="0" y="0"/>
                  </a:moveTo>
                  <a:lnTo>
                    <a:pt x="2803010" y="0"/>
                  </a:lnTo>
                  <a:lnTo>
                    <a:pt x="2803010" y="802362"/>
                  </a:lnTo>
                  <a:lnTo>
                    <a:pt x="0" y="8023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de-DE" sz="933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58016" y="1881088"/>
              <a:ext cx="4919870" cy="4114800"/>
            </a:xfrm>
            <a:custGeom>
              <a:avLst/>
              <a:gdLst/>
              <a:ahLst/>
              <a:cxnLst/>
              <a:rect l="l" t="t" r="r" b="b"/>
              <a:pathLst>
                <a:path w="4919870" h="4114800">
                  <a:moveTo>
                    <a:pt x="0" y="0"/>
                  </a:moveTo>
                  <a:lnTo>
                    <a:pt x="4919869" y="0"/>
                  </a:lnTo>
                  <a:lnTo>
                    <a:pt x="4919869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de-DE" sz="933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04730" y="196212"/>
              <a:ext cx="2369060" cy="3626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533"/>
                </a:lnSpc>
              </a:pPr>
              <a:r>
                <a:rPr lang="en-US" sz="1095">
                  <a:solidFill>
                    <a:srgbClr val="FFFFFF"/>
                  </a:solidFill>
                  <a:latin typeface="Codec Pro Bold"/>
                </a:rPr>
                <a:t>HPI ECOSYSTEM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58590" y="1369355"/>
            <a:ext cx="4627608" cy="4562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47"/>
              </a:lnSpc>
            </a:pPr>
            <a:r>
              <a:rPr lang="en-US" sz="1500" b="1" dirty="0">
                <a:solidFill>
                  <a:srgbClr val="FFFFFF"/>
                </a:solidFill>
                <a:latin typeface="Codec Pro Bold"/>
              </a:rPr>
              <a:t>AI Advisory </a:t>
            </a:r>
          </a:p>
          <a:p>
            <a:pPr marL="331067" lvl="1" indent="-165534">
              <a:lnSpc>
                <a:spcPts val="2147"/>
              </a:lnSpc>
              <a:buFont typeface="Arial"/>
              <a:buChar char="•"/>
            </a:pPr>
            <a:r>
              <a:rPr lang="en-US" sz="1533" dirty="0">
                <a:solidFill>
                  <a:srgbClr val="FFFFFF"/>
                </a:solidFill>
                <a:latin typeface="Codec Pro"/>
              </a:rPr>
              <a:t>General Questions regarding AI, </a:t>
            </a:r>
          </a:p>
          <a:p>
            <a:pPr marL="331067" lvl="1" indent="-165534">
              <a:lnSpc>
                <a:spcPts val="2147"/>
              </a:lnSpc>
              <a:buFont typeface="Arial"/>
              <a:buChar char="•"/>
            </a:pPr>
            <a:r>
              <a:rPr lang="en-US" sz="1533" dirty="0">
                <a:solidFill>
                  <a:srgbClr val="FFFFFF"/>
                </a:solidFill>
                <a:latin typeface="Codec Pro"/>
              </a:rPr>
              <a:t>Computing Infrastructure,</a:t>
            </a:r>
          </a:p>
          <a:p>
            <a:pPr marL="331067" lvl="1" indent="-165534">
              <a:lnSpc>
                <a:spcPts val="2147"/>
              </a:lnSpc>
              <a:buFont typeface="Arial"/>
              <a:buChar char="•"/>
            </a:pPr>
            <a:r>
              <a:rPr lang="en-US" sz="1533" dirty="0">
                <a:solidFill>
                  <a:srgbClr val="FFFFFF"/>
                </a:solidFill>
                <a:latin typeface="Codec Pro"/>
              </a:rPr>
              <a:t>Model, Architecture, Framework Selection</a:t>
            </a:r>
          </a:p>
          <a:p>
            <a:pPr>
              <a:lnSpc>
                <a:spcPts val="2147"/>
              </a:lnSpc>
            </a:pPr>
            <a:endParaRPr lang="en-US" sz="1533" dirty="0">
              <a:solidFill>
                <a:srgbClr val="FFFFFF"/>
              </a:solidFill>
              <a:latin typeface="Codec Pro"/>
            </a:endParaRPr>
          </a:p>
          <a:p>
            <a:pPr>
              <a:lnSpc>
                <a:spcPts val="2147"/>
              </a:lnSpc>
            </a:pPr>
            <a:r>
              <a:rPr lang="en-US" sz="1500" b="1" dirty="0">
                <a:solidFill>
                  <a:srgbClr val="FFFFFF"/>
                </a:solidFill>
                <a:latin typeface="Codec Pro Bold"/>
              </a:rPr>
              <a:t>AI Pilot Projects (3 months)</a:t>
            </a:r>
          </a:p>
          <a:p>
            <a:pPr marL="331067" lvl="1" indent="-165534">
              <a:lnSpc>
                <a:spcPts val="2147"/>
              </a:lnSpc>
              <a:buAutoNum type="arabicPeriod"/>
            </a:pPr>
            <a:r>
              <a:rPr lang="en-US" sz="1533" dirty="0">
                <a:solidFill>
                  <a:srgbClr val="FFFFFF"/>
                </a:solidFill>
                <a:latin typeface="Codec Pro Bold"/>
              </a:rPr>
              <a:t>Understanding </a:t>
            </a:r>
            <a:r>
              <a:rPr lang="en-US" sz="1533" dirty="0">
                <a:solidFill>
                  <a:srgbClr val="FFFFFF"/>
                </a:solidFill>
                <a:latin typeface="Codec Pro"/>
              </a:rPr>
              <a:t>and </a:t>
            </a:r>
            <a:r>
              <a:rPr lang="en-US" sz="1533" dirty="0">
                <a:solidFill>
                  <a:srgbClr val="FFFFFF"/>
                </a:solidFill>
                <a:latin typeface="Codec Pro Bold"/>
              </a:rPr>
              <a:t>Identifying </a:t>
            </a:r>
            <a:r>
              <a:rPr lang="en-US" sz="1533" dirty="0">
                <a:solidFill>
                  <a:srgbClr val="FFFFFF"/>
                </a:solidFill>
                <a:latin typeface="Codec Pro"/>
              </a:rPr>
              <a:t>the Use Case </a:t>
            </a:r>
          </a:p>
          <a:p>
            <a:pPr marL="331067" lvl="1" indent="-165534">
              <a:lnSpc>
                <a:spcPts val="2147"/>
              </a:lnSpc>
              <a:buAutoNum type="arabicPeriod"/>
            </a:pPr>
            <a:r>
              <a:rPr lang="en-US" sz="1533" dirty="0">
                <a:solidFill>
                  <a:srgbClr val="FFFFFF"/>
                </a:solidFill>
                <a:latin typeface="Codec Pro Bold"/>
              </a:rPr>
              <a:t>Specifying </a:t>
            </a:r>
            <a:r>
              <a:rPr lang="en-US" sz="1533" dirty="0">
                <a:solidFill>
                  <a:srgbClr val="FFFFFF"/>
                </a:solidFill>
                <a:latin typeface="Codec Pro"/>
              </a:rPr>
              <a:t>the Use Case </a:t>
            </a:r>
          </a:p>
          <a:p>
            <a:pPr marL="331067" lvl="1" indent="-165534">
              <a:lnSpc>
                <a:spcPts val="2147"/>
              </a:lnSpc>
              <a:buAutoNum type="arabicPeriod"/>
            </a:pPr>
            <a:r>
              <a:rPr lang="en-US" sz="1533" dirty="0">
                <a:solidFill>
                  <a:srgbClr val="FFFFFF"/>
                </a:solidFill>
                <a:latin typeface="Codec Pro Bold"/>
              </a:rPr>
              <a:t>Developing </a:t>
            </a:r>
            <a:r>
              <a:rPr lang="en-US" sz="1533" dirty="0">
                <a:solidFill>
                  <a:srgbClr val="FFFFFF"/>
                </a:solidFill>
                <a:latin typeface="Codec Pro"/>
              </a:rPr>
              <a:t>a Solution </a:t>
            </a:r>
          </a:p>
          <a:p>
            <a:pPr marL="331067" lvl="1" indent="-165534">
              <a:lnSpc>
                <a:spcPts val="2147"/>
              </a:lnSpc>
              <a:buAutoNum type="arabicPeriod"/>
            </a:pPr>
            <a:r>
              <a:rPr lang="en-US" sz="1533" dirty="0">
                <a:solidFill>
                  <a:srgbClr val="FFFFFF"/>
                </a:solidFill>
                <a:latin typeface="Codec Pro Bold"/>
              </a:rPr>
              <a:t>Finalizing </a:t>
            </a:r>
            <a:r>
              <a:rPr lang="en-US" sz="1533" dirty="0">
                <a:solidFill>
                  <a:srgbClr val="FFFFFF"/>
                </a:solidFill>
                <a:latin typeface="Codec Pro"/>
              </a:rPr>
              <a:t>and </a:t>
            </a:r>
            <a:r>
              <a:rPr lang="en-US" sz="1533" dirty="0">
                <a:solidFill>
                  <a:srgbClr val="FFFFFF"/>
                </a:solidFill>
                <a:latin typeface="Codec Pro Bold"/>
              </a:rPr>
              <a:t>Documenting</a:t>
            </a:r>
          </a:p>
          <a:p>
            <a:pPr>
              <a:lnSpc>
                <a:spcPts val="2147"/>
              </a:lnSpc>
            </a:pPr>
            <a:endParaRPr lang="en-US" sz="1533" dirty="0">
              <a:solidFill>
                <a:srgbClr val="FFFFFF"/>
              </a:solidFill>
              <a:latin typeface="Codec Pro Bold"/>
            </a:endParaRPr>
          </a:p>
          <a:p>
            <a:pPr>
              <a:lnSpc>
                <a:spcPts val="2147"/>
              </a:lnSpc>
            </a:pPr>
            <a:r>
              <a:rPr lang="en-US" sz="1500" b="1" dirty="0" err="1">
                <a:solidFill>
                  <a:srgbClr val="FFFFFF"/>
                </a:solidFill>
                <a:latin typeface="Codec Pro Bold"/>
              </a:rPr>
              <a:t>Cooperations</a:t>
            </a:r>
            <a:endParaRPr lang="en-US" sz="1500" b="1" dirty="0">
              <a:solidFill>
                <a:srgbClr val="FFFFFF"/>
              </a:solidFill>
              <a:latin typeface="Codec Pro Bold"/>
            </a:endParaRPr>
          </a:p>
          <a:p>
            <a:pPr marL="331067" lvl="1" indent="-165534">
              <a:lnSpc>
                <a:spcPts val="2147"/>
              </a:lnSpc>
              <a:buFont typeface="Arial"/>
              <a:buChar char="•"/>
            </a:pPr>
            <a:r>
              <a:rPr lang="en-US" sz="1533" dirty="0">
                <a:solidFill>
                  <a:srgbClr val="FFFFFF"/>
                </a:solidFill>
                <a:latin typeface="Codec Pro"/>
              </a:rPr>
              <a:t>Co-organized Network Meetings or Workshops</a:t>
            </a:r>
          </a:p>
          <a:p>
            <a:pPr>
              <a:lnSpc>
                <a:spcPts val="2147"/>
              </a:lnSpc>
            </a:pPr>
            <a:endParaRPr lang="en-US" sz="1533" dirty="0">
              <a:solidFill>
                <a:srgbClr val="FFFFFF"/>
              </a:solidFill>
              <a:latin typeface="Codec Pro"/>
            </a:endParaRPr>
          </a:p>
          <a:p>
            <a:pPr>
              <a:lnSpc>
                <a:spcPts val="2147"/>
              </a:lnSpc>
            </a:pPr>
            <a:r>
              <a:rPr lang="en-US" sz="1500" b="1" dirty="0">
                <a:solidFill>
                  <a:srgbClr val="FFFFFF"/>
                </a:solidFill>
                <a:latin typeface="Codec Pro Bold"/>
              </a:rPr>
              <a:t>Start-up Support</a:t>
            </a:r>
          </a:p>
          <a:p>
            <a:pPr marL="331067" lvl="1" indent="-165534">
              <a:lnSpc>
                <a:spcPts val="2147"/>
              </a:lnSpc>
              <a:buFont typeface="Arial"/>
              <a:buChar char="•"/>
            </a:pPr>
            <a:r>
              <a:rPr lang="en-US" sz="1533" dirty="0">
                <a:solidFill>
                  <a:srgbClr val="FFFFFF"/>
                </a:solidFill>
                <a:latin typeface="Codec Pro"/>
              </a:rPr>
              <a:t>All of the above</a:t>
            </a:r>
          </a:p>
          <a:p>
            <a:pPr marL="331067" lvl="1" indent="-165534">
              <a:lnSpc>
                <a:spcPts val="2147"/>
              </a:lnSpc>
              <a:buFont typeface="Arial"/>
              <a:buChar char="•"/>
            </a:pPr>
            <a:r>
              <a:rPr lang="en-US" sz="1533" dirty="0">
                <a:solidFill>
                  <a:srgbClr val="FFFFFF"/>
                </a:solidFill>
                <a:latin typeface="Codec Pro"/>
              </a:rPr>
              <a:t>Support with Networking</a:t>
            </a:r>
          </a:p>
        </p:txBody>
      </p:sp>
      <p:sp>
        <p:nvSpPr>
          <p:cNvPr id="13" name="Freeform 13"/>
          <p:cNvSpPr/>
          <p:nvPr/>
        </p:nvSpPr>
        <p:spPr>
          <a:xfrm>
            <a:off x="10720750" y="268864"/>
            <a:ext cx="1178860" cy="416936"/>
          </a:xfrm>
          <a:custGeom>
            <a:avLst/>
            <a:gdLst/>
            <a:ahLst/>
            <a:cxnLst/>
            <a:rect l="l" t="t" r="r" b="b"/>
            <a:pathLst>
              <a:path w="1768290" h="625404">
                <a:moveTo>
                  <a:pt x="0" y="0"/>
                </a:moveTo>
                <a:lnTo>
                  <a:pt x="1768290" y="0"/>
                </a:lnTo>
                <a:lnTo>
                  <a:pt x="1768290" y="625404"/>
                </a:lnTo>
                <a:lnTo>
                  <a:pt x="0" y="6254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de-DE" sz="933"/>
          </a:p>
        </p:txBody>
      </p:sp>
      <p:sp>
        <p:nvSpPr>
          <p:cNvPr id="14" name="Freeform 14"/>
          <p:cNvSpPr/>
          <p:nvPr/>
        </p:nvSpPr>
        <p:spPr>
          <a:xfrm>
            <a:off x="10720750" y="879420"/>
            <a:ext cx="1365277" cy="943289"/>
          </a:xfrm>
          <a:custGeom>
            <a:avLst/>
            <a:gdLst/>
            <a:ahLst/>
            <a:cxnLst/>
            <a:rect l="l" t="t" r="r" b="b"/>
            <a:pathLst>
              <a:path w="2047916" h="1414934">
                <a:moveTo>
                  <a:pt x="0" y="0"/>
                </a:moveTo>
                <a:lnTo>
                  <a:pt x="2047916" y="0"/>
                </a:lnTo>
                <a:lnTo>
                  <a:pt x="2047916" y="1414934"/>
                </a:lnTo>
                <a:lnTo>
                  <a:pt x="0" y="14149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0047" t="-9556"/>
            </a:stretch>
          </a:blipFill>
        </p:spPr>
        <p:txBody>
          <a:bodyPr/>
          <a:lstStyle/>
          <a:p>
            <a:endParaRPr lang="de-DE" sz="933"/>
          </a:p>
        </p:txBody>
      </p:sp>
      <p:sp>
        <p:nvSpPr>
          <p:cNvPr id="15" name="TextBox 15"/>
          <p:cNvSpPr txBox="1"/>
          <p:nvPr/>
        </p:nvSpPr>
        <p:spPr>
          <a:xfrm>
            <a:off x="11085546" y="1664064"/>
            <a:ext cx="814064" cy="372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74"/>
              </a:lnSpc>
            </a:pPr>
            <a:r>
              <a:rPr lang="en-US" sz="1053" u="sng">
                <a:solidFill>
                  <a:srgbClr val="B0073A"/>
                </a:solidFill>
                <a:latin typeface="Codec Pro Bold"/>
              </a:rPr>
              <a:t>kisz@hpi.de</a:t>
            </a:r>
            <a:r>
              <a:rPr lang="en-US" sz="1053">
                <a:solidFill>
                  <a:srgbClr val="B0073A"/>
                </a:solidFill>
                <a:latin typeface="Codec Pro Bold"/>
              </a:rPr>
              <a:t>    </a:t>
            </a:r>
            <a:r>
              <a:rPr lang="en-US" sz="1053" u="sng">
                <a:solidFill>
                  <a:srgbClr val="B0073A"/>
                </a:solidFill>
                <a:latin typeface="Codec Pro Bold"/>
              </a:rPr>
              <a:t>hpi.de/kisz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92CF2C-90E7-424C-20F1-B7C073069C19}"/>
              </a:ext>
            </a:extLst>
          </p:cNvPr>
          <p:cNvSpPr/>
          <p:nvPr/>
        </p:nvSpPr>
        <p:spPr>
          <a:xfrm>
            <a:off x="6635983" y="2657625"/>
            <a:ext cx="2770021" cy="16009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37CCD38-C0B7-B6EC-69C0-5A3D1EAC6C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07668" y="3610278"/>
            <a:ext cx="3278359" cy="64833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E1FE5A9-1A33-FEAB-406A-9802104EA3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64785" y="4328285"/>
            <a:ext cx="2562285" cy="8337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87426" y="6568750"/>
            <a:ext cx="1874045" cy="131707"/>
          </a:xfrm>
          <a:custGeom>
            <a:avLst/>
            <a:gdLst/>
            <a:ahLst/>
            <a:cxnLst/>
            <a:rect l="l" t="t" r="r" b="b"/>
            <a:pathLst>
              <a:path w="2811067" h="197560">
                <a:moveTo>
                  <a:pt x="0" y="0"/>
                </a:moveTo>
                <a:lnTo>
                  <a:pt x="2811067" y="0"/>
                </a:lnTo>
                <a:lnTo>
                  <a:pt x="2811067" y="197560"/>
                </a:lnTo>
                <a:lnTo>
                  <a:pt x="0" y="1975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>
              <a:buClrTx/>
            </a:pPr>
            <a:endParaRPr lang="de-DE"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5195544" y="0"/>
            <a:ext cx="7287890" cy="7035193"/>
            <a:chOff x="0" y="0"/>
            <a:chExt cx="2879166" cy="277933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79166" cy="2779336"/>
            </a:xfrm>
            <a:custGeom>
              <a:avLst/>
              <a:gdLst/>
              <a:ahLst/>
              <a:cxnLst/>
              <a:rect l="l" t="t" r="r" b="b"/>
              <a:pathLst>
                <a:path w="2879166" h="2779336">
                  <a:moveTo>
                    <a:pt x="0" y="0"/>
                  </a:moveTo>
                  <a:lnTo>
                    <a:pt x="2879166" y="0"/>
                  </a:lnTo>
                  <a:lnTo>
                    <a:pt x="2879166" y="2779336"/>
                  </a:lnTo>
                  <a:lnTo>
                    <a:pt x="0" y="27793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defTabSz="609630">
                <a:buClrTx/>
              </a:pPr>
              <a:endParaRPr lang="de-DE"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2879166" cy="2846011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74"/>
                </a:lnSpc>
                <a:buClrTx/>
              </a:pPr>
              <a:endParaRPr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>
            <a:off x="2403955" y="1241341"/>
            <a:ext cx="5766724" cy="4375319"/>
          </a:xfrm>
          <a:custGeom>
            <a:avLst/>
            <a:gdLst/>
            <a:ahLst/>
            <a:cxnLst/>
            <a:rect l="l" t="t" r="r" b="b"/>
            <a:pathLst>
              <a:path w="8650086" h="6562979">
                <a:moveTo>
                  <a:pt x="0" y="0"/>
                </a:moveTo>
                <a:lnTo>
                  <a:pt x="8650086" y="0"/>
                </a:lnTo>
                <a:lnTo>
                  <a:pt x="8650086" y="6562978"/>
                </a:lnTo>
                <a:lnTo>
                  <a:pt x="0" y="65629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7133" b="-5902"/>
            </a:stretch>
          </a:blipFill>
        </p:spPr>
        <p:txBody>
          <a:bodyPr/>
          <a:lstStyle/>
          <a:p>
            <a:pPr defTabSz="609630">
              <a:buClrTx/>
            </a:pPr>
            <a:endParaRPr lang="de-DE"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32637" y="378615"/>
            <a:ext cx="5666570" cy="398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3199"/>
              </a:lnSpc>
              <a:buClrTx/>
            </a:pPr>
            <a:r>
              <a:rPr lang="en-US" sz="2666" kern="1200">
                <a:solidFill>
                  <a:srgbClr val="FFFFFF"/>
                </a:solidFill>
                <a:latin typeface="Codec Pro Bold"/>
                <a:ea typeface="+mn-ea"/>
                <a:cs typeface="+mn-cs"/>
              </a:rPr>
              <a:t>Infrastructure</a:t>
            </a:r>
          </a:p>
        </p:txBody>
      </p:sp>
      <p:sp>
        <p:nvSpPr>
          <p:cNvPr id="8" name="Freeform 8"/>
          <p:cNvSpPr/>
          <p:nvPr/>
        </p:nvSpPr>
        <p:spPr>
          <a:xfrm>
            <a:off x="10720750" y="268864"/>
            <a:ext cx="1178860" cy="416936"/>
          </a:xfrm>
          <a:custGeom>
            <a:avLst/>
            <a:gdLst/>
            <a:ahLst/>
            <a:cxnLst/>
            <a:rect l="l" t="t" r="r" b="b"/>
            <a:pathLst>
              <a:path w="1768290" h="625404">
                <a:moveTo>
                  <a:pt x="0" y="0"/>
                </a:moveTo>
                <a:lnTo>
                  <a:pt x="1768290" y="0"/>
                </a:lnTo>
                <a:lnTo>
                  <a:pt x="1768290" y="625404"/>
                </a:lnTo>
                <a:lnTo>
                  <a:pt x="0" y="6254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 defTabSz="609630">
              <a:buClrTx/>
            </a:pPr>
            <a:endParaRPr lang="de-DE"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0720750" y="879420"/>
            <a:ext cx="1365277" cy="943289"/>
          </a:xfrm>
          <a:custGeom>
            <a:avLst/>
            <a:gdLst/>
            <a:ahLst/>
            <a:cxnLst/>
            <a:rect l="l" t="t" r="r" b="b"/>
            <a:pathLst>
              <a:path w="2047916" h="1414934">
                <a:moveTo>
                  <a:pt x="0" y="0"/>
                </a:moveTo>
                <a:lnTo>
                  <a:pt x="2047916" y="0"/>
                </a:lnTo>
                <a:lnTo>
                  <a:pt x="2047916" y="1414934"/>
                </a:lnTo>
                <a:lnTo>
                  <a:pt x="0" y="14149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047" t="-9556"/>
            </a:stretch>
          </a:blipFill>
        </p:spPr>
        <p:txBody>
          <a:bodyPr/>
          <a:lstStyle/>
          <a:p>
            <a:pPr defTabSz="609630">
              <a:buClrTx/>
            </a:pPr>
            <a:endParaRPr lang="de-DE"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085546" y="1664064"/>
            <a:ext cx="814064" cy="372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defTabSz="609630">
              <a:lnSpc>
                <a:spcPts val="1474"/>
              </a:lnSpc>
              <a:buClrTx/>
            </a:pPr>
            <a:r>
              <a:rPr lang="en-US" sz="1053" u="sng" kern="1200">
                <a:solidFill>
                  <a:srgbClr val="B0073A"/>
                </a:solidFill>
                <a:latin typeface="Codec Pro Bold"/>
                <a:ea typeface="+mn-ea"/>
                <a:cs typeface="+mn-cs"/>
              </a:rPr>
              <a:t>kisz@hpi.de</a:t>
            </a:r>
            <a:r>
              <a:rPr lang="en-US" sz="1053" kern="1200">
                <a:solidFill>
                  <a:srgbClr val="B0073A"/>
                </a:solidFill>
                <a:latin typeface="Codec Pro Bold"/>
                <a:ea typeface="+mn-ea"/>
                <a:cs typeface="+mn-cs"/>
              </a:rPr>
              <a:t>    </a:t>
            </a:r>
            <a:r>
              <a:rPr lang="en-US" sz="1053" u="sng" kern="1200">
                <a:solidFill>
                  <a:srgbClr val="B0073A"/>
                </a:solidFill>
                <a:latin typeface="Codec Pro Bold"/>
                <a:ea typeface="+mn-ea"/>
                <a:cs typeface="+mn-cs"/>
              </a:rPr>
              <a:t>hpi.de/kisz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41088" y="1196891"/>
            <a:ext cx="2157005" cy="4298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1410"/>
              </a:lnSpc>
              <a:buClrTx/>
            </a:pPr>
            <a:r>
              <a:rPr lang="en-US" sz="1007" kern="1200" dirty="0">
                <a:solidFill>
                  <a:srgbClr val="B0073A"/>
                </a:solidFill>
                <a:latin typeface="Codec Pro Bold"/>
                <a:ea typeface="+mn-ea"/>
                <a:cs typeface="+mn-cs"/>
              </a:rPr>
              <a:t>Training</a:t>
            </a:r>
          </a:p>
          <a:p>
            <a:pPr marL="217469" lvl="1" indent="-108734" defTabSz="609630">
              <a:lnSpc>
                <a:spcPts val="1410"/>
              </a:lnSpc>
              <a:buClrTx/>
              <a:buFont typeface="Arial"/>
              <a:buChar char="•"/>
            </a:pPr>
            <a:r>
              <a:rPr lang="en-US" sz="1007" kern="1200" dirty="0">
                <a:latin typeface="Codec Pro"/>
                <a:ea typeface="+mn-ea"/>
                <a:cs typeface="+mn-cs"/>
              </a:rPr>
              <a:t>8 x 8 NVIDIA H100 GPU</a:t>
            </a:r>
          </a:p>
          <a:p>
            <a:pPr defTabSz="609630">
              <a:lnSpc>
                <a:spcPts val="1410"/>
              </a:lnSpc>
              <a:buClrTx/>
            </a:pPr>
            <a:endParaRPr lang="en-US" sz="1007" kern="1200" dirty="0">
              <a:latin typeface="Codec Pro"/>
              <a:ea typeface="+mn-ea"/>
              <a:cs typeface="+mn-cs"/>
            </a:endParaRPr>
          </a:p>
          <a:p>
            <a:pPr defTabSz="609630">
              <a:lnSpc>
                <a:spcPts val="1410"/>
              </a:lnSpc>
              <a:buClrTx/>
            </a:pPr>
            <a:r>
              <a:rPr lang="en-US" sz="1007" kern="1200" dirty="0">
                <a:solidFill>
                  <a:srgbClr val="B0073A"/>
                </a:solidFill>
                <a:latin typeface="Codec Pro Bold"/>
                <a:ea typeface="+mn-ea"/>
                <a:cs typeface="+mn-cs"/>
              </a:rPr>
              <a:t>Inference</a:t>
            </a:r>
          </a:p>
          <a:p>
            <a:pPr marL="217469" lvl="1" indent="-108734" defTabSz="609630">
              <a:lnSpc>
                <a:spcPts val="1410"/>
              </a:lnSpc>
              <a:buClrTx/>
              <a:buFont typeface="Arial"/>
              <a:buChar char="•"/>
            </a:pPr>
            <a:r>
              <a:rPr lang="en-US" sz="1007" kern="1200" dirty="0">
                <a:latin typeface="Codec Pro"/>
                <a:ea typeface="+mn-ea"/>
                <a:cs typeface="+mn-cs"/>
              </a:rPr>
              <a:t>5 x 8 NVIDIA A30 GPU</a:t>
            </a:r>
          </a:p>
          <a:p>
            <a:pPr defTabSz="609630">
              <a:lnSpc>
                <a:spcPts val="1410"/>
              </a:lnSpc>
              <a:buClrTx/>
            </a:pPr>
            <a:endParaRPr lang="en-US" sz="1007" kern="1200" dirty="0">
              <a:latin typeface="Codec Pro"/>
              <a:ea typeface="+mn-ea"/>
              <a:cs typeface="+mn-cs"/>
            </a:endParaRPr>
          </a:p>
          <a:p>
            <a:pPr defTabSz="609630">
              <a:lnSpc>
                <a:spcPts val="1410"/>
              </a:lnSpc>
              <a:buClrTx/>
            </a:pPr>
            <a:r>
              <a:rPr lang="en-US" sz="1007" kern="1200" dirty="0">
                <a:solidFill>
                  <a:srgbClr val="B0073A"/>
                </a:solidFill>
                <a:latin typeface="Codec Pro Bold"/>
                <a:ea typeface="+mn-ea"/>
                <a:cs typeface="+mn-cs"/>
              </a:rPr>
              <a:t>ARM Server</a:t>
            </a:r>
          </a:p>
          <a:p>
            <a:pPr marL="217469" lvl="1" indent="-108734" defTabSz="609630">
              <a:lnSpc>
                <a:spcPts val="1410"/>
              </a:lnSpc>
              <a:buClrTx/>
              <a:buFont typeface="Arial"/>
              <a:buChar char="•"/>
            </a:pPr>
            <a:r>
              <a:rPr lang="en-US" sz="1007" kern="1200" dirty="0">
                <a:latin typeface="Codec Pro"/>
                <a:ea typeface="+mn-ea"/>
                <a:cs typeface="+mn-cs"/>
              </a:rPr>
              <a:t>Ampere </a:t>
            </a:r>
            <a:r>
              <a:rPr lang="en-US" sz="1007" kern="1200" dirty="0" err="1">
                <a:latin typeface="Codec Pro"/>
                <a:ea typeface="+mn-ea"/>
                <a:cs typeface="+mn-cs"/>
              </a:rPr>
              <a:t>Altra</a:t>
            </a:r>
            <a:r>
              <a:rPr lang="en-US" sz="1007" kern="1200" dirty="0">
                <a:latin typeface="Codec Pro"/>
                <a:ea typeface="+mn-ea"/>
                <a:cs typeface="+mn-cs"/>
              </a:rPr>
              <a:t> Max M128-30 CPU</a:t>
            </a:r>
          </a:p>
          <a:p>
            <a:pPr marL="217469" lvl="1" indent="-108734" defTabSz="609630">
              <a:lnSpc>
                <a:spcPts val="1410"/>
              </a:lnSpc>
              <a:buClrTx/>
              <a:buFont typeface="Arial"/>
              <a:buChar char="•"/>
            </a:pPr>
            <a:r>
              <a:rPr lang="en-US" sz="1007" kern="1200" dirty="0">
                <a:latin typeface="Codec Pro"/>
                <a:ea typeface="+mn-ea"/>
                <a:cs typeface="+mn-cs"/>
              </a:rPr>
              <a:t>2 x NVIDIA L40 GPUs</a:t>
            </a:r>
          </a:p>
          <a:p>
            <a:pPr defTabSz="609630">
              <a:lnSpc>
                <a:spcPts val="1410"/>
              </a:lnSpc>
              <a:buClrTx/>
            </a:pPr>
            <a:endParaRPr lang="en-US" sz="1007" kern="1200" dirty="0">
              <a:latin typeface="Codec Pro"/>
              <a:ea typeface="+mn-ea"/>
              <a:cs typeface="+mn-cs"/>
            </a:endParaRPr>
          </a:p>
          <a:p>
            <a:pPr defTabSz="609630">
              <a:lnSpc>
                <a:spcPts val="1410"/>
              </a:lnSpc>
              <a:buClrTx/>
            </a:pPr>
            <a:r>
              <a:rPr lang="en-US" sz="1007" kern="1200" dirty="0">
                <a:solidFill>
                  <a:srgbClr val="B0073A"/>
                </a:solidFill>
                <a:latin typeface="Codec Pro Bold"/>
                <a:ea typeface="+mn-ea"/>
                <a:cs typeface="+mn-cs"/>
              </a:rPr>
              <a:t>GPU Server</a:t>
            </a:r>
          </a:p>
          <a:p>
            <a:pPr marL="217469" lvl="1" indent="-108734" defTabSz="609630">
              <a:lnSpc>
                <a:spcPts val="1410"/>
              </a:lnSpc>
              <a:buClrTx/>
              <a:buFont typeface="Arial"/>
              <a:buChar char="•"/>
            </a:pPr>
            <a:r>
              <a:rPr lang="en-US" sz="1007" kern="1200" dirty="0">
                <a:latin typeface="Codec Pro"/>
                <a:ea typeface="+mn-ea"/>
                <a:cs typeface="+mn-cs"/>
              </a:rPr>
              <a:t>AMD </a:t>
            </a:r>
            <a:r>
              <a:rPr lang="en-US" sz="1007" kern="1200" dirty="0" err="1">
                <a:latin typeface="Codec Pro"/>
                <a:ea typeface="+mn-ea"/>
                <a:cs typeface="+mn-cs"/>
              </a:rPr>
              <a:t>Epyc</a:t>
            </a:r>
            <a:r>
              <a:rPr lang="en-US" sz="1007" kern="1200" dirty="0">
                <a:latin typeface="Codec Pro"/>
                <a:ea typeface="+mn-ea"/>
                <a:cs typeface="+mn-cs"/>
              </a:rPr>
              <a:t> CPU</a:t>
            </a:r>
          </a:p>
          <a:p>
            <a:pPr marL="217469" lvl="1" indent="-108734" defTabSz="609630">
              <a:lnSpc>
                <a:spcPts val="1410"/>
              </a:lnSpc>
              <a:buClrTx/>
              <a:buFont typeface="Arial"/>
              <a:buChar char="•"/>
            </a:pPr>
            <a:r>
              <a:rPr lang="en-US" sz="1007" kern="1200" dirty="0">
                <a:latin typeface="Codec Pro"/>
                <a:ea typeface="+mn-ea"/>
                <a:cs typeface="+mn-cs"/>
              </a:rPr>
              <a:t>8 x NVIDIA L40S GPU</a:t>
            </a:r>
          </a:p>
          <a:p>
            <a:pPr defTabSz="609630">
              <a:lnSpc>
                <a:spcPts val="1410"/>
              </a:lnSpc>
              <a:buClrTx/>
            </a:pPr>
            <a:endParaRPr lang="en-US" sz="1007" kern="1200" dirty="0">
              <a:latin typeface="Codec Pro"/>
              <a:ea typeface="+mn-ea"/>
              <a:cs typeface="+mn-cs"/>
            </a:endParaRPr>
          </a:p>
          <a:p>
            <a:pPr defTabSz="609630">
              <a:lnSpc>
                <a:spcPts val="1410"/>
              </a:lnSpc>
              <a:buClrTx/>
            </a:pPr>
            <a:r>
              <a:rPr lang="en-US" sz="1007" kern="1200" dirty="0">
                <a:solidFill>
                  <a:srgbClr val="B0073A"/>
                </a:solidFill>
                <a:latin typeface="Codec Pro Bold"/>
                <a:ea typeface="+mn-ea"/>
                <a:cs typeface="+mn-cs"/>
              </a:rPr>
              <a:t>Edge</a:t>
            </a:r>
          </a:p>
          <a:p>
            <a:pPr marL="217469" lvl="1" indent="-108734" defTabSz="609630">
              <a:lnSpc>
                <a:spcPts val="1410"/>
              </a:lnSpc>
              <a:buClrTx/>
              <a:buFont typeface="Arial"/>
              <a:buChar char="•"/>
            </a:pPr>
            <a:r>
              <a:rPr lang="en-US" sz="1007" kern="1200" dirty="0">
                <a:latin typeface="Codec Pro"/>
                <a:ea typeface="+mn-ea"/>
                <a:cs typeface="+mn-cs"/>
              </a:rPr>
              <a:t>ARMv8 CPU</a:t>
            </a:r>
          </a:p>
          <a:p>
            <a:pPr marL="217469" lvl="1" indent="-108734" defTabSz="609630">
              <a:lnSpc>
                <a:spcPts val="1410"/>
              </a:lnSpc>
              <a:buClrTx/>
              <a:buFont typeface="Arial"/>
              <a:buChar char="•"/>
            </a:pPr>
            <a:r>
              <a:rPr lang="en-US" sz="1007" kern="1200" dirty="0">
                <a:latin typeface="Codec Pro"/>
                <a:ea typeface="+mn-ea"/>
                <a:cs typeface="+mn-cs"/>
              </a:rPr>
              <a:t>NVIDIA Jetson AGX Module</a:t>
            </a:r>
          </a:p>
          <a:p>
            <a:pPr defTabSz="609630">
              <a:lnSpc>
                <a:spcPts val="1410"/>
              </a:lnSpc>
              <a:buClrTx/>
            </a:pPr>
            <a:endParaRPr lang="en-US" sz="1007" kern="1200" dirty="0">
              <a:latin typeface="Codec Pro"/>
              <a:ea typeface="+mn-ea"/>
              <a:cs typeface="+mn-cs"/>
            </a:endParaRPr>
          </a:p>
          <a:p>
            <a:pPr defTabSz="609630">
              <a:lnSpc>
                <a:spcPts val="1410"/>
              </a:lnSpc>
              <a:buClrTx/>
            </a:pPr>
            <a:r>
              <a:rPr lang="en-US" sz="1007" kern="1200" dirty="0">
                <a:solidFill>
                  <a:srgbClr val="B0073A"/>
                </a:solidFill>
                <a:latin typeface="Codec Pro Bold"/>
                <a:ea typeface="+mn-ea"/>
                <a:cs typeface="+mn-cs"/>
              </a:rPr>
              <a:t>Storage</a:t>
            </a:r>
          </a:p>
          <a:p>
            <a:pPr marL="217469" lvl="1" indent="-108734" defTabSz="609630">
              <a:lnSpc>
                <a:spcPts val="1410"/>
              </a:lnSpc>
              <a:buClrTx/>
              <a:buFont typeface="Arial"/>
              <a:buChar char="•"/>
            </a:pPr>
            <a:r>
              <a:rPr lang="en-US" sz="1007" kern="1200" dirty="0">
                <a:latin typeface="Codec Pro"/>
                <a:ea typeface="+mn-ea"/>
                <a:cs typeface="+mn-cs"/>
              </a:rPr>
              <a:t>1.5 PB NVRAM</a:t>
            </a:r>
          </a:p>
          <a:p>
            <a:pPr defTabSz="609630">
              <a:lnSpc>
                <a:spcPts val="1410"/>
              </a:lnSpc>
              <a:buClrTx/>
            </a:pPr>
            <a:endParaRPr lang="en-US" sz="1007" kern="1200" dirty="0">
              <a:latin typeface="Codec Pro"/>
              <a:ea typeface="+mn-ea"/>
              <a:cs typeface="+mn-cs"/>
            </a:endParaRPr>
          </a:p>
          <a:p>
            <a:pPr defTabSz="609630">
              <a:lnSpc>
                <a:spcPts val="1410"/>
              </a:lnSpc>
              <a:buClrTx/>
            </a:pPr>
            <a:r>
              <a:rPr lang="en-US" sz="1007" kern="1200" dirty="0">
                <a:solidFill>
                  <a:srgbClr val="B0073A"/>
                </a:solidFill>
                <a:latin typeface="Codec Pro Bold"/>
                <a:ea typeface="+mn-ea"/>
                <a:cs typeface="+mn-cs"/>
              </a:rPr>
              <a:t>Network</a:t>
            </a:r>
          </a:p>
          <a:p>
            <a:pPr marL="217469" lvl="1" indent="-108734" defTabSz="609630">
              <a:lnSpc>
                <a:spcPts val="1410"/>
              </a:lnSpc>
              <a:buClrTx/>
              <a:buFont typeface="Arial"/>
              <a:buChar char="•"/>
            </a:pPr>
            <a:r>
              <a:rPr lang="en-US" sz="1007" kern="1200" dirty="0">
                <a:latin typeface="Codec Pro"/>
                <a:ea typeface="+mn-ea"/>
                <a:cs typeface="+mn-cs"/>
              </a:rPr>
              <a:t>400 Gb/s </a:t>
            </a:r>
            <a:r>
              <a:rPr lang="en-US" sz="1007" kern="1200" dirty="0" err="1">
                <a:latin typeface="Codec Pro"/>
                <a:ea typeface="+mn-ea"/>
                <a:cs typeface="+mn-cs"/>
              </a:rPr>
              <a:t>Infiniband</a:t>
            </a:r>
            <a:endParaRPr lang="en-US" sz="1007" kern="1200" dirty="0">
              <a:latin typeface="Codec Pro"/>
              <a:ea typeface="+mn-ea"/>
              <a:cs typeface="+mn-cs"/>
            </a:endParaRPr>
          </a:p>
          <a:p>
            <a:pPr marL="217469" lvl="1" indent="-108734" defTabSz="609630">
              <a:lnSpc>
                <a:spcPts val="1410"/>
              </a:lnSpc>
              <a:buClrTx/>
              <a:buFont typeface="Arial"/>
              <a:buChar char="•"/>
            </a:pPr>
            <a:r>
              <a:rPr lang="en-US" sz="1007" kern="1200" dirty="0">
                <a:latin typeface="Codec Pro"/>
                <a:ea typeface="+mn-ea"/>
                <a:cs typeface="+mn-cs"/>
              </a:rPr>
              <a:t>200 Gb/s Ethernet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20750" y="268864"/>
            <a:ext cx="1178860" cy="416936"/>
          </a:xfrm>
          <a:custGeom>
            <a:avLst/>
            <a:gdLst/>
            <a:ahLst/>
            <a:cxnLst/>
            <a:rect l="l" t="t" r="r" b="b"/>
            <a:pathLst>
              <a:path w="1768290" h="625404">
                <a:moveTo>
                  <a:pt x="0" y="0"/>
                </a:moveTo>
                <a:lnTo>
                  <a:pt x="1768290" y="0"/>
                </a:lnTo>
                <a:lnTo>
                  <a:pt x="1768290" y="625404"/>
                </a:lnTo>
                <a:lnTo>
                  <a:pt x="0" y="62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 sz="933"/>
          </a:p>
        </p:txBody>
      </p:sp>
      <p:sp>
        <p:nvSpPr>
          <p:cNvPr id="3" name="Freeform 3"/>
          <p:cNvSpPr/>
          <p:nvPr/>
        </p:nvSpPr>
        <p:spPr>
          <a:xfrm>
            <a:off x="10616028" y="2690037"/>
            <a:ext cx="1346314" cy="1001822"/>
          </a:xfrm>
          <a:custGeom>
            <a:avLst/>
            <a:gdLst/>
            <a:ahLst/>
            <a:cxnLst/>
            <a:rect l="l" t="t" r="r" b="b"/>
            <a:pathLst>
              <a:path w="2472728" h="1778629">
                <a:moveTo>
                  <a:pt x="0" y="0"/>
                </a:moveTo>
                <a:lnTo>
                  <a:pt x="2472728" y="0"/>
                </a:lnTo>
                <a:lnTo>
                  <a:pt x="2472728" y="1778629"/>
                </a:lnTo>
                <a:lnTo>
                  <a:pt x="0" y="17786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de-DE" sz="933"/>
          </a:p>
        </p:txBody>
      </p:sp>
      <p:sp>
        <p:nvSpPr>
          <p:cNvPr id="4" name="Freeform 4"/>
          <p:cNvSpPr/>
          <p:nvPr/>
        </p:nvSpPr>
        <p:spPr>
          <a:xfrm>
            <a:off x="987425" y="6568750"/>
            <a:ext cx="1874045" cy="131707"/>
          </a:xfrm>
          <a:custGeom>
            <a:avLst/>
            <a:gdLst/>
            <a:ahLst/>
            <a:cxnLst/>
            <a:rect l="l" t="t" r="r" b="b"/>
            <a:pathLst>
              <a:path w="2811067" h="197560">
                <a:moveTo>
                  <a:pt x="0" y="0"/>
                </a:moveTo>
                <a:lnTo>
                  <a:pt x="2811068" y="0"/>
                </a:lnTo>
                <a:lnTo>
                  <a:pt x="2811068" y="197560"/>
                </a:lnTo>
                <a:lnTo>
                  <a:pt x="0" y="1975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933"/>
          </a:p>
        </p:txBody>
      </p:sp>
      <p:sp>
        <p:nvSpPr>
          <p:cNvPr id="5" name="Freeform 5"/>
          <p:cNvSpPr/>
          <p:nvPr/>
        </p:nvSpPr>
        <p:spPr>
          <a:xfrm>
            <a:off x="10720750" y="879420"/>
            <a:ext cx="1365277" cy="943289"/>
          </a:xfrm>
          <a:custGeom>
            <a:avLst/>
            <a:gdLst/>
            <a:ahLst/>
            <a:cxnLst/>
            <a:rect l="l" t="t" r="r" b="b"/>
            <a:pathLst>
              <a:path w="2047916" h="1414934">
                <a:moveTo>
                  <a:pt x="0" y="0"/>
                </a:moveTo>
                <a:lnTo>
                  <a:pt x="2047916" y="0"/>
                </a:lnTo>
                <a:lnTo>
                  <a:pt x="2047916" y="1414934"/>
                </a:lnTo>
                <a:lnTo>
                  <a:pt x="0" y="14149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047" t="-9556"/>
            </a:stretch>
          </a:blipFill>
        </p:spPr>
        <p:txBody>
          <a:bodyPr/>
          <a:lstStyle/>
          <a:p>
            <a:endParaRPr lang="de-DE" sz="933"/>
          </a:p>
        </p:txBody>
      </p:sp>
      <p:grpSp>
        <p:nvGrpSpPr>
          <p:cNvPr id="6" name="Group 6"/>
          <p:cNvGrpSpPr/>
          <p:nvPr/>
        </p:nvGrpSpPr>
        <p:grpSpPr>
          <a:xfrm>
            <a:off x="4402920" y="935561"/>
            <a:ext cx="1265160" cy="1175506"/>
            <a:chOff x="0" y="0"/>
            <a:chExt cx="2136184" cy="207511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2136184" cy="2075116"/>
              <a:chOff x="0" y="0"/>
              <a:chExt cx="421962" cy="409899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21962" cy="409899"/>
              </a:xfrm>
              <a:custGeom>
                <a:avLst/>
                <a:gdLst/>
                <a:ahLst/>
                <a:cxnLst/>
                <a:rect l="l" t="t" r="r" b="b"/>
                <a:pathLst>
                  <a:path w="421962" h="409899">
                    <a:moveTo>
                      <a:pt x="0" y="0"/>
                    </a:moveTo>
                    <a:lnTo>
                      <a:pt x="421962" y="0"/>
                    </a:lnTo>
                    <a:lnTo>
                      <a:pt x="421962" y="409899"/>
                    </a:lnTo>
                    <a:lnTo>
                      <a:pt x="0" y="409899"/>
                    </a:lnTo>
                    <a:close/>
                  </a:path>
                </a:pathLst>
              </a:custGeom>
              <a:solidFill>
                <a:srgbClr val="F6A8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de-DE" sz="933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66675"/>
                <a:ext cx="421962" cy="476574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474"/>
                  </a:lnSpc>
                </a:pPr>
                <a:endParaRPr sz="933"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0" y="561308"/>
              <a:ext cx="2136184" cy="8976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80"/>
                </a:lnSpc>
              </a:pPr>
              <a:r>
                <a:rPr lang="en-US" sz="1067">
                  <a:solidFill>
                    <a:srgbClr val="17161C"/>
                  </a:solidFill>
                  <a:latin typeface="Codec Pro"/>
                </a:rPr>
                <a:t> </a:t>
              </a:r>
            </a:p>
            <a:p>
              <a:pPr algn="ctr">
                <a:lnSpc>
                  <a:spcPts val="2239"/>
                </a:lnSpc>
              </a:pPr>
              <a:r>
                <a:rPr lang="en-US" sz="1866">
                  <a:solidFill>
                    <a:srgbClr val="FFFFFF"/>
                  </a:solidFill>
                  <a:latin typeface="Codec Pro Bold"/>
                </a:rPr>
                <a:t>Talks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307920" y="5830989"/>
            <a:ext cx="5687726" cy="20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9080" lvl="1" indent="-129540">
              <a:lnSpc>
                <a:spcPts val="1680"/>
              </a:lnSpc>
              <a:spcBef>
                <a:spcPct val="0"/>
              </a:spcBef>
              <a:buFont typeface="Arial"/>
              <a:buChar char="•"/>
            </a:pPr>
            <a:endParaRPr lang="en-US" sz="1200" dirty="0">
              <a:solidFill>
                <a:srgbClr val="17161C"/>
              </a:solidFill>
              <a:latin typeface="Codec Pro"/>
            </a:endParaRPr>
          </a:p>
        </p:txBody>
      </p:sp>
      <p:sp>
        <p:nvSpPr>
          <p:cNvPr id="14" name="AutoShape 14"/>
          <p:cNvSpPr/>
          <p:nvPr/>
        </p:nvSpPr>
        <p:spPr>
          <a:xfrm rot="10800000">
            <a:off x="0" y="0"/>
            <a:ext cx="4036630" cy="6858000"/>
          </a:xfrm>
          <a:prstGeom prst="rect">
            <a:avLst/>
          </a:prstGeom>
          <a:solidFill>
            <a:srgbClr val="F6A800"/>
          </a:solidFill>
        </p:spPr>
        <p:txBody>
          <a:bodyPr/>
          <a:lstStyle/>
          <a:p>
            <a:endParaRPr lang="de-DE" sz="933"/>
          </a:p>
        </p:txBody>
      </p:sp>
      <p:sp>
        <p:nvSpPr>
          <p:cNvPr id="15" name="TextBox 15"/>
          <p:cNvSpPr txBox="1"/>
          <p:nvPr/>
        </p:nvSpPr>
        <p:spPr>
          <a:xfrm>
            <a:off x="685801" y="2521527"/>
            <a:ext cx="4110759" cy="808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99"/>
              </a:lnSpc>
            </a:pPr>
            <a:r>
              <a:rPr lang="en-US" sz="2666">
                <a:solidFill>
                  <a:srgbClr val="FFFFFF"/>
                </a:solidFill>
                <a:latin typeface="Codec Pro Bold"/>
              </a:rPr>
              <a:t>EDUCATION</a:t>
            </a:r>
          </a:p>
          <a:p>
            <a:pPr>
              <a:lnSpc>
                <a:spcPts val="3199"/>
              </a:lnSpc>
            </a:pPr>
            <a:r>
              <a:rPr lang="en-US" sz="2666">
                <a:solidFill>
                  <a:srgbClr val="FFFFFF"/>
                </a:solidFill>
                <a:latin typeface="Codec Pro Bold"/>
              </a:rPr>
              <a:t>&amp; TRAINING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7304614" y="4934610"/>
            <a:ext cx="1416246" cy="1320022"/>
            <a:chOff x="0" y="0"/>
            <a:chExt cx="2136184" cy="2075116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2136184" cy="2075116"/>
              <a:chOff x="0" y="0"/>
              <a:chExt cx="421962" cy="409899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421962" cy="409899"/>
              </a:xfrm>
              <a:custGeom>
                <a:avLst/>
                <a:gdLst/>
                <a:ahLst/>
                <a:cxnLst/>
                <a:rect l="l" t="t" r="r" b="b"/>
                <a:pathLst>
                  <a:path w="421962" h="409899">
                    <a:moveTo>
                      <a:pt x="0" y="0"/>
                    </a:moveTo>
                    <a:lnTo>
                      <a:pt x="421962" y="0"/>
                    </a:lnTo>
                    <a:lnTo>
                      <a:pt x="421962" y="409899"/>
                    </a:lnTo>
                    <a:lnTo>
                      <a:pt x="0" y="409899"/>
                    </a:lnTo>
                    <a:close/>
                  </a:path>
                </a:pathLst>
              </a:custGeom>
              <a:solidFill>
                <a:srgbClr val="DC640D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de-DE" sz="933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66675"/>
                <a:ext cx="421962" cy="476574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474"/>
                  </a:lnSpc>
                </a:pPr>
                <a:endParaRPr sz="933"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0" y="399384"/>
              <a:ext cx="2125452" cy="12054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79"/>
                </a:lnSpc>
              </a:pPr>
              <a:r>
                <a:rPr lang="en-US" sz="2066">
                  <a:solidFill>
                    <a:srgbClr val="FFFFFF"/>
                  </a:solidFill>
                  <a:latin typeface="Codec Pro Bold"/>
                </a:rPr>
                <a:t>Work</a:t>
              </a:r>
            </a:p>
            <a:p>
              <a:pPr algn="ctr">
                <a:lnSpc>
                  <a:spcPts val="2239"/>
                </a:lnSpc>
              </a:pPr>
              <a:r>
                <a:rPr lang="en-US" sz="1866">
                  <a:solidFill>
                    <a:srgbClr val="FFFFFF"/>
                  </a:solidFill>
                  <a:latin typeface="Codec Pro Bold"/>
                </a:rPr>
                <a:t>shops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760908" y="2725391"/>
            <a:ext cx="1332640" cy="1247764"/>
            <a:chOff x="0" y="0"/>
            <a:chExt cx="2139764" cy="2075116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2136184" cy="2075116"/>
              <a:chOff x="0" y="0"/>
              <a:chExt cx="421962" cy="409899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421962" cy="409899"/>
              </a:xfrm>
              <a:custGeom>
                <a:avLst/>
                <a:gdLst/>
                <a:ahLst/>
                <a:cxnLst/>
                <a:rect l="l" t="t" r="r" b="b"/>
                <a:pathLst>
                  <a:path w="421962" h="409899">
                    <a:moveTo>
                      <a:pt x="0" y="0"/>
                    </a:moveTo>
                    <a:lnTo>
                      <a:pt x="421962" y="0"/>
                    </a:lnTo>
                    <a:lnTo>
                      <a:pt x="421962" y="409899"/>
                    </a:lnTo>
                    <a:lnTo>
                      <a:pt x="0" y="409899"/>
                    </a:lnTo>
                    <a:close/>
                  </a:path>
                </a:pathLst>
              </a:custGeom>
              <a:solidFill>
                <a:srgbClr val="B0073A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de-DE" sz="933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66675"/>
                <a:ext cx="421962" cy="476574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474"/>
                  </a:lnSpc>
                </a:pPr>
                <a:endParaRPr sz="933"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10734" y="710534"/>
              <a:ext cx="2129030" cy="564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866">
                  <a:solidFill>
                    <a:srgbClr val="FFFFFF"/>
                  </a:solidFill>
                  <a:latin typeface="Codec Pro Bold"/>
                </a:rPr>
                <a:t>MOOCs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1085546" y="1664064"/>
            <a:ext cx="814064" cy="372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74"/>
              </a:lnSpc>
            </a:pPr>
            <a:r>
              <a:rPr lang="en-US" sz="1053" u="sng">
                <a:solidFill>
                  <a:srgbClr val="B0073A"/>
                </a:solidFill>
                <a:latin typeface="Codec Pro Bold"/>
              </a:rPr>
              <a:t>kisz@hpi.de</a:t>
            </a:r>
            <a:r>
              <a:rPr lang="en-US" sz="1053">
                <a:solidFill>
                  <a:srgbClr val="B0073A"/>
                </a:solidFill>
                <a:latin typeface="Codec Pro Bold"/>
              </a:rPr>
              <a:t>    </a:t>
            </a:r>
            <a:r>
              <a:rPr lang="en-US" sz="1053" u="sng">
                <a:solidFill>
                  <a:srgbClr val="B0073A"/>
                </a:solidFill>
                <a:latin typeface="Codec Pro Bold"/>
              </a:rPr>
              <a:t>hpi.de/kisz</a:t>
            </a:r>
          </a:p>
        </p:txBody>
      </p:sp>
      <p:pic>
        <p:nvPicPr>
          <p:cNvPr id="11" name="Picture 11" descr="Screenshot 2026-02-12 at 10.30.00.png">
            <a:extLst>
              <a:ext uri="{FF2B5EF4-FFF2-40B4-BE49-F238E27FC236}">
                <a16:creationId xmlns:a16="http://schemas.microsoft.com/office/drawing/2014/main" id="{2011E43D-886F-4C6A-840E-54B710DD3C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5718" y="2692254"/>
            <a:ext cx="1790701" cy="1954168"/>
          </a:xfrm>
          <a:prstGeom prst="rect">
            <a:avLst/>
          </a:prstGeom>
        </p:spPr>
      </p:pic>
      <p:pic>
        <p:nvPicPr>
          <p:cNvPr id="27" name="Picture 27" descr="Screenshot 2026-02-12 at 10.28.55.png">
            <a:extLst>
              <a:ext uri="{FF2B5EF4-FFF2-40B4-BE49-F238E27FC236}">
                <a16:creationId xmlns:a16="http://schemas.microsoft.com/office/drawing/2014/main" id="{41D5EA1F-4C95-404A-9473-EDCFDD684C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01044" y="4928837"/>
            <a:ext cx="2047461" cy="1640874"/>
          </a:xfrm>
          <a:prstGeom prst="rect">
            <a:avLst/>
          </a:prstGeom>
        </p:spPr>
      </p:pic>
      <p:pic>
        <p:nvPicPr>
          <p:cNvPr id="29" name="Picture 29" descr="Screenshot 2026-02-12 at 10.29.15.png">
            <a:extLst>
              <a:ext uri="{FF2B5EF4-FFF2-40B4-BE49-F238E27FC236}">
                <a16:creationId xmlns:a16="http://schemas.microsoft.com/office/drawing/2014/main" id="{9522B048-1778-4794-8E8F-8DADAF2B5A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869" y="904581"/>
            <a:ext cx="1972918" cy="171266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26D768-519A-4BD8-A610-5A4E17BE1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D09620FA-EF03-E7B2-8EE4-F76B79C4D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509" y="849284"/>
            <a:ext cx="10002982" cy="515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834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A28557B-E912-4344-8140-1A704894F8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e-DE" dirty="0"/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e-DE" dirty="0"/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background</a:t>
            </a:r>
            <a:r>
              <a:rPr lang="de-DE" dirty="0"/>
              <a:t>?</a:t>
            </a:r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e-DE" dirty="0"/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e-DE" dirty="0"/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motivation</a:t>
            </a:r>
            <a:r>
              <a:rPr lang="de-DE" dirty="0"/>
              <a:t> </a:t>
            </a:r>
            <a:r>
              <a:rPr lang="de-DE" dirty="0" err="1"/>
              <a:t>coming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 </a:t>
            </a:r>
            <a:r>
              <a:rPr lang="de-DE" dirty="0" err="1"/>
              <a:t>today</a:t>
            </a:r>
            <a:r>
              <a:rPr lang="de-DE" dirty="0"/>
              <a:t>?</a:t>
            </a:r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e-DE" dirty="0"/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e-DE" dirty="0"/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Are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familiar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 </a:t>
            </a:r>
            <a:r>
              <a:rPr lang="de-DE" dirty="0" err="1"/>
              <a:t>VSCode</a:t>
            </a:r>
            <a:r>
              <a:rPr lang="de-DE" dirty="0"/>
              <a:t>, </a:t>
            </a:r>
            <a:r>
              <a:rPr lang="de-DE" dirty="0" err="1"/>
              <a:t>Git</a:t>
            </a:r>
            <a:r>
              <a:rPr lang="de-DE" dirty="0"/>
              <a:t>, Docker, Python, … ?</a:t>
            </a:r>
          </a:p>
          <a:p>
            <a:pPr marL="228600" indent="0">
              <a:lnSpc>
                <a:spcPct val="150000"/>
              </a:lnSpc>
            </a:pPr>
            <a:endParaRPr lang="de-DE" dirty="0"/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e-DE" dirty="0"/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76CEFC4-F77B-4C4B-9F81-C4EC43720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Let's get to know each other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669F61-8DE0-4B4A-92DF-446BAB42FD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22295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87FD5E-06D7-42C7-93D5-CBEA925BA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4675" y="1758794"/>
            <a:ext cx="8658226" cy="4380957"/>
          </a:xfrm>
        </p:spPr>
        <p:txBody>
          <a:bodyPr/>
          <a:lstStyle/>
          <a:p>
            <a:pPr marL="1028700" lvl="1" indent="-342900">
              <a:lnSpc>
                <a:spcPct val="100000"/>
              </a:lnSpc>
              <a:buSzPct val="100000"/>
              <a:buFont typeface="+mj-lt"/>
              <a:buAutoNum type="arabicPeriod"/>
            </a:pPr>
            <a:r>
              <a:rPr lang="en-GB" sz="2000" dirty="0"/>
              <a:t>VS Code</a:t>
            </a:r>
          </a:p>
          <a:p>
            <a:pPr marL="1028700" lvl="1" indent="-342900">
              <a:lnSpc>
                <a:spcPct val="100000"/>
              </a:lnSpc>
              <a:buSzPct val="100000"/>
              <a:buFont typeface="+mj-lt"/>
              <a:buAutoNum type="arabicPeriod"/>
            </a:pPr>
            <a:r>
              <a:rPr lang="en-GB" sz="2000" dirty="0"/>
              <a:t>WSL</a:t>
            </a:r>
          </a:p>
          <a:p>
            <a:pPr marL="1028700" lvl="1" indent="-342900">
              <a:lnSpc>
                <a:spcPct val="100000"/>
              </a:lnSpc>
              <a:buSzPct val="100000"/>
              <a:buFont typeface="+mj-lt"/>
              <a:buAutoNum type="arabicPeriod"/>
            </a:pPr>
            <a:r>
              <a:rPr lang="en-GB" sz="2000" dirty="0"/>
              <a:t>Git</a:t>
            </a:r>
          </a:p>
          <a:p>
            <a:pPr marL="1028700" lvl="1" indent="-342900">
              <a:lnSpc>
                <a:spcPct val="100000"/>
              </a:lnSpc>
              <a:buSzPct val="100000"/>
              <a:buFont typeface="+mj-lt"/>
              <a:buAutoNum type="arabicPeriod"/>
            </a:pPr>
            <a:r>
              <a:rPr lang="en-GB" sz="2000" dirty="0"/>
              <a:t>Python</a:t>
            </a:r>
          </a:p>
          <a:p>
            <a:pPr marL="1028700" lvl="1" indent="-342900">
              <a:lnSpc>
                <a:spcPct val="100000"/>
              </a:lnSpc>
              <a:buSzPct val="100000"/>
              <a:buFont typeface="+mj-lt"/>
              <a:buAutoNum type="arabicPeriod"/>
            </a:pPr>
            <a:r>
              <a:rPr lang="en-GB" sz="2000" dirty="0"/>
              <a:t>UV</a:t>
            </a:r>
          </a:p>
          <a:p>
            <a:pPr marL="1028700" lvl="1" indent="-342900">
              <a:lnSpc>
                <a:spcPct val="100000"/>
              </a:lnSpc>
              <a:buSzPct val="100000"/>
              <a:buFont typeface="+mj-lt"/>
              <a:buAutoNum type="arabicPeriod"/>
            </a:pPr>
            <a:r>
              <a:rPr lang="en-GB" sz="2000" dirty="0" err="1"/>
              <a:t>Ollama</a:t>
            </a:r>
            <a:endParaRPr lang="en-GB" sz="2000" dirty="0"/>
          </a:p>
          <a:p>
            <a:pPr marL="1028700" lvl="1" indent="-342900">
              <a:lnSpc>
                <a:spcPct val="100000"/>
              </a:lnSpc>
              <a:buSzPct val="100000"/>
              <a:buFont typeface="+mj-lt"/>
              <a:buAutoNum type="arabicPeriod"/>
            </a:pPr>
            <a:r>
              <a:rPr lang="en-GB" sz="2000" dirty="0"/>
              <a:t>Docker Desktop</a:t>
            </a:r>
          </a:p>
          <a:p>
            <a:pPr marL="1028700" lvl="1" indent="-342900">
              <a:lnSpc>
                <a:spcPct val="100000"/>
              </a:lnSpc>
              <a:buSzPct val="100000"/>
              <a:buFont typeface="+mj-lt"/>
              <a:buAutoNum type="arabicPeriod"/>
            </a:pPr>
            <a:r>
              <a:rPr lang="en-GB" sz="2000" dirty="0"/>
              <a:t>Example Application: Local Chatbot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C32A2C-DE9D-47F6-9FFB-05C0B9D15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Goal: Set up your environment</a:t>
            </a:r>
          </a:p>
        </p:txBody>
      </p:sp>
    </p:spTree>
    <p:extLst>
      <p:ext uri="{BB962C8B-B14F-4D97-AF65-F5344CB8AC3E}">
        <p14:creationId xmlns:p14="http://schemas.microsoft.com/office/powerpoint/2010/main" val="1034618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2D455C7-CF87-4936-B456-F6539AC99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4" y="533488"/>
            <a:ext cx="8330772" cy="335643"/>
          </a:xfrm>
        </p:spPr>
        <p:txBody>
          <a:bodyPr/>
          <a:lstStyle/>
          <a:p>
            <a:r>
              <a:rPr lang="en-GB" dirty="0"/>
              <a:t>Overview of the software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D7092E-F27B-4410-BF2E-56BBD25DB1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11</a:t>
            </a:fld>
            <a:endParaRPr lang="de-DE" dirty="0"/>
          </a:p>
        </p:txBody>
      </p:sp>
      <p:pic>
        <p:nvPicPr>
          <p:cNvPr id="6" name="Picture 6" descr="Screenshot 2026-02-12 at 11.28.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442" y="995327"/>
            <a:ext cx="8151743" cy="5347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520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5A03ECE-2C0F-47F8-834F-8F69DF189A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en-GB" dirty="0"/>
              <a:t>Code-Editor: </a:t>
            </a:r>
          </a:p>
          <a:p>
            <a:pPr marL="971550" lvl="1" indent="-285750">
              <a:buSzPct val="100000"/>
              <a:buFont typeface="Arial" panose="020B0604020202020204" pitchFamily="34" charset="0"/>
              <a:buChar char="•"/>
            </a:pPr>
            <a:r>
              <a:rPr lang="en-GB" dirty="0"/>
              <a:t>Lightweight</a:t>
            </a:r>
          </a:p>
          <a:p>
            <a:pPr marL="971550" lvl="1" indent="-285750">
              <a:buSzPct val="100000"/>
              <a:buFont typeface="Arial" panose="020B0604020202020204" pitchFamily="34" charset="0"/>
              <a:buChar char="•"/>
            </a:pPr>
            <a:r>
              <a:rPr lang="en-GB" dirty="0"/>
              <a:t>Cross-platform</a:t>
            </a:r>
          </a:p>
          <a:p>
            <a:pPr marL="971550" lvl="1" indent="-285750">
              <a:buSzPct val="100000"/>
              <a:buFont typeface="Arial" panose="020B0604020202020204" pitchFamily="34" charset="0"/>
              <a:buChar char="•"/>
            </a:pPr>
            <a:r>
              <a:rPr lang="en-GB" dirty="0"/>
              <a:t>Expandable with extensions</a:t>
            </a:r>
          </a:p>
          <a:p>
            <a:pPr marL="514350" indent="-285750">
              <a:buSzPct val="100000"/>
              <a:buFont typeface="Arial" panose="020B0604020202020204" pitchFamily="34" charset="0"/>
              <a:buChar char="•"/>
            </a:pPr>
            <a:endParaRPr lang="en-GB" dirty="0"/>
          </a:p>
          <a:p>
            <a:pPr marL="514350" indent="-285750">
              <a:buSzPct val="100000"/>
              <a:buFont typeface="Arial" panose="020B0604020202020204" pitchFamily="34" charset="0"/>
              <a:buChar char="•"/>
            </a:pPr>
            <a:r>
              <a:rPr lang="en-GB" dirty="0"/>
              <a:t>Supports various tools:</a:t>
            </a:r>
          </a:p>
          <a:p>
            <a:pPr marL="971550" lvl="1" indent="-285750">
              <a:buSzPct val="100000"/>
              <a:buFont typeface="Arial" panose="020B0604020202020204" pitchFamily="34" charset="0"/>
              <a:buChar char="•"/>
            </a:pPr>
            <a:r>
              <a:rPr lang="en-GB" dirty="0"/>
              <a:t>Python, </a:t>
            </a:r>
            <a:r>
              <a:rPr lang="en-GB" dirty="0" err="1"/>
              <a:t>Jupyter</a:t>
            </a:r>
            <a:r>
              <a:rPr lang="en-GB" dirty="0"/>
              <a:t> Notebook, Git, Docker, SSH</a:t>
            </a:r>
          </a:p>
          <a:p>
            <a:pPr marL="514350" indent="-285750">
              <a:buSzPct val="100000"/>
              <a:buFont typeface="Arial" panose="020B0604020202020204" pitchFamily="34" charset="0"/>
              <a:buChar char="•"/>
            </a:pPr>
            <a:endParaRPr lang="en-GB" dirty="0"/>
          </a:p>
          <a:p>
            <a:pPr marL="514350" indent="-285750">
              <a:buSzPct val="100000"/>
              <a:buFont typeface="Arial" panose="020B0604020202020204" pitchFamily="34" charset="0"/>
              <a:buChar char="•"/>
            </a:pPr>
            <a:r>
              <a:rPr lang="en-GB" dirty="0"/>
              <a:t>Integration of coding assistants (e.g., Claude)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25118CC-0BD4-4690-8DE8-4D38DFD56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Visual Studio Code (VS Code)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755DA-E869-4191-A78B-6F89083207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12</a:t>
            </a:fld>
            <a:endParaRPr lang="de-DE" dirty="0"/>
          </a:p>
        </p:txBody>
      </p:sp>
      <p:pic>
        <p:nvPicPr>
          <p:cNvPr id="5" name="Picture 5" descr="im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9747" y="1958008"/>
            <a:ext cx="2072309" cy="2072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037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F7F4103-26E1-4E01-B097-325088593E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en-GB" dirty="0"/>
              <a:t>Platform for version control of code</a:t>
            </a:r>
          </a:p>
          <a:p>
            <a:pPr marL="971550" lvl="1" indent="-285750">
              <a:buSzPct val="100000"/>
              <a:buFont typeface="Arial" panose="020B0604020202020204" pitchFamily="34" charset="0"/>
              <a:buChar char="•"/>
            </a:pPr>
            <a:r>
              <a:rPr lang="en-GB" dirty="0"/>
              <a:t>Development, version control, review, and documentation</a:t>
            </a:r>
          </a:p>
          <a:p>
            <a:pPr marL="514350" indent="-285750">
              <a:buSzPct val="100000"/>
              <a:buFont typeface="Arial" panose="020B0604020202020204" pitchFamily="34" charset="0"/>
              <a:buChar char="•"/>
            </a:pPr>
            <a:endParaRPr lang="en-GB" dirty="0"/>
          </a:p>
          <a:p>
            <a:pPr marL="971550" lvl="1" indent="-285750">
              <a:buSzPct val="100000"/>
              <a:buFont typeface="Arial" panose="020B0604020202020204" pitchFamily="34" charset="0"/>
              <a:buChar char="•"/>
            </a:pPr>
            <a:endParaRPr lang="en-GB" dirty="0"/>
          </a:p>
          <a:p>
            <a:pPr marL="514350" indent="-285750">
              <a:buSzPct val="100000"/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037BFE5-81CD-45B2-98EF-9FDDA4991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GitHub &amp; Git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616BCE-C2B6-4740-AA6C-4541B77CDC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13</a:t>
            </a:fld>
            <a:endParaRPr lang="de-DE" dirty="0"/>
          </a:p>
        </p:txBody>
      </p:sp>
      <p:pic>
        <p:nvPicPr>
          <p:cNvPr id="7" name="Picture 7" descr="1726897313436.png">
            <a:extLst>
              <a:ext uri="{FF2B5EF4-FFF2-40B4-BE49-F238E27FC236}">
                <a16:creationId xmlns:a16="http://schemas.microsoft.com/office/drawing/2014/main" id="{4959DF3B-A448-486F-96D6-6B0F3796D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118" y="3144225"/>
            <a:ext cx="4300330" cy="158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376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6745E57-09EF-4AFC-859E-C002512B62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en-GB" dirty="0"/>
              <a:t>General-purpose programming language with key libraries for AI and data science</a:t>
            </a:r>
          </a:p>
          <a:p>
            <a:pPr marL="971550" lvl="1" indent="-285750">
              <a:buSzPct val="100000"/>
              <a:buFont typeface="Arial" panose="020B0604020202020204" pitchFamily="34" charset="0"/>
              <a:buChar char="•"/>
            </a:pPr>
            <a:r>
              <a:rPr lang="en-GB" dirty="0"/>
              <a:t>NumPy: numerical computing</a:t>
            </a:r>
          </a:p>
          <a:p>
            <a:pPr marL="971550" lvl="1" indent="-285750">
              <a:buSzPct val="100000"/>
              <a:buFont typeface="Arial" panose="020B0604020202020204" pitchFamily="34" charset="0"/>
              <a:buChar char="•"/>
            </a:pPr>
            <a:r>
              <a:rPr lang="en-GB" dirty="0" err="1"/>
              <a:t>PyTorch</a:t>
            </a:r>
            <a:r>
              <a:rPr lang="en-GB" dirty="0"/>
              <a:t>: neural networks</a:t>
            </a:r>
          </a:p>
          <a:p>
            <a:pPr marL="971550" lvl="1" indent="-285750">
              <a:buSzPct val="100000"/>
              <a:buFont typeface="Arial" panose="020B0604020202020204" pitchFamily="34" charset="0"/>
              <a:buChar char="•"/>
            </a:pPr>
            <a:r>
              <a:rPr lang="en-GB" dirty="0" err="1"/>
              <a:t>Librosa</a:t>
            </a:r>
            <a:r>
              <a:rPr lang="en-GB" dirty="0"/>
              <a:t>: audio processing</a:t>
            </a:r>
          </a:p>
          <a:p>
            <a:pPr marL="971550" lvl="1" indent="-285750">
              <a:buSzPct val="100000"/>
              <a:buFont typeface="Arial" panose="020B0604020202020204" pitchFamily="34" charset="0"/>
              <a:buChar char="•"/>
            </a:pPr>
            <a:r>
              <a:rPr lang="en-GB" dirty="0"/>
              <a:t>…</a:t>
            </a:r>
          </a:p>
          <a:p>
            <a:pPr marL="971550" lvl="1" indent="-285750">
              <a:buSzPct val="100000"/>
              <a:buFont typeface="Arial" panose="020B0604020202020204" pitchFamily="34" charset="0"/>
              <a:buChar char="•"/>
            </a:pPr>
            <a:endParaRPr lang="en-GB" dirty="0"/>
          </a:p>
          <a:p>
            <a:pPr marL="514350" indent="-285750">
              <a:buSzPct val="100000"/>
              <a:buFont typeface="Arial" panose="020B0604020202020204" pitchFamily="34" charset="0"/>
              <a:buChar char="•"/>
            </a:pPr>
            <a:r>
              <a:rPr lang="en-GB" dirty="0"/>
              <a:t>Extensive learning resources and tutorials available</a:t>
            </a:r>
          </a:p>
          <a:p>
            <a:pPr marL="514350" indent="-285750">
              <a:buSzPct val="100000"/>
              <a:buFont typeface="Arial" panose="020B0604020202020204" pitchFamily="34" charset="0"/>
              <a:buChar char="•"/>
            </a:pPr>
            <a:endParaRPr lang="en-GB" dirty="0"/>
          </a:p>
          <a:p>
            <a:pPr marL="514350" indent="-285750">
              <a:buSzPct val="100000"/>
              <a:buFont typeface="Arial" panose="020B0604020202020204" pitchFamily="34" charset="0"/>
              <a:buChar char="•"/>
            </a:pPr>
            <a:r>
              <a:rPr lang="en-GB" dirty="0"/>
              <a:t>Suitable for data processing, model training, ...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58C30AE-7C1A-4906-BA1A-8B9EB1392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D3CDE-3C1F-4982-9549-EE8A3E82ED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14</a:t>
            </a:fld>
            <a:endParaRPr lang="de-DE" dirty="0"/>
          </a:p>
        </p:txBody>
      </p:sp>
      <p:pic>
        <p:nvPicPr>
          <p:cNvPr id="5" name="Picture 5" descr="Python-logo-notext.svg.png">
            <a:extLst>
              <a:ext uri="{FF2B5EF4-FFF2-40B4-BE49-F238E27FC236}">
                <a16:creationId xmlns:a16="http://schemas.microsoft.com/office/drawing/2014/main" id="{A5F7CACC-008E-43C9-A8DF-A58510130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0639" y="2347291"/>
            <a:ext cx="1823831" cy="1823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202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D5450A2-8D9B-4599-A5E0-C23E67AB15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en-GB" dirty="0"/>
              <a:t>Fast Python package and project manager</a:t>
            </a:r>
          </a:p>
          <a:p>
            <a:pPr marL="971550" lvl="1" indent="-285750">
              <a:buSzPct val="100000"/>
              <a:buFont typeface="Arial" panose="020B0604020202020204" pitchFamily="34" charset="0"/>
              <a:buChar char="•"/>
            </a:pPr>
            <a:r>
              <a:rPr lang="en-GB" dirty="0"/>
              <a:t>Handles package installation and dependency management</a:t>
            </a:r>
          </a:p>
          <a:p>
            <a:pPr marL="971550" lvl="1" indent="-285750">
              <a:buSzPct val="100000"/>
              <a:buFont typeface="Arial" panose="020B0604020202020204" pitchFamily="34" charset="0"/>
              <a:buChar char="•"/>
            </a:pPr>
            <a:r>
              <a:rPr lang="en-GB" dirty="0"/>
              <a:t>Creates reproducible development environments, ensuring consistent package versions</a:t>
            </a:r>
          </a:p>
          <a:p>
            <a:pPr marL="971550" lvl="1" indent="-285750">
              <a:buSzPct val="100000"/>
              <a:buFont typeface="Arial" panose="020B0604020202020204" pitchFamily="34" charset="0"/>
              <a:buChar char="•"/>
            </a:pPr>
            <a:endParaRPr lang="en-GB" dirty="0"/>
          </a:p>
          <a:p>
            <a:pPr marL="514350" indent="-285750">
              <a:buSzPct val="100000"/>
              <a:buFont typeface="Arial" panose="020B0604020202020204" pitchFamily="34" charset="0"/>
              <a:buChar char="•"/>
            </a:pPr>
            <a:r>
              <a:rPr lang="en-GB" dirty="0"/>
              <a:t>Ensures code runs reliably across different machines and operating systems</a:t>
            </a:r>
          </a:p>
          <a:p>
            <a:pPr marL="971550" lvl="1" indent="-285750">
              <a:buSzPct val="100000"/>
              <a:buFont typeface="Arial" panose="020B0604020202020204" pitchFamily="34" charset="0"/>
              <a:buChar char="•"/>
            </a:pPr>
            <a:r>
              <a:rPr lang="en-GB" dirty="0"/>
              <a:t>Windows 10, 11, XP</a:t>
            </a:r>
          </a:p>
          <a:p>
            <a:pPr marL="971550" lvl="1" indent="-285750">
              <a:buSzPct val="100000"/>
              <a:buFont typeface="Arial" panose="020B0604020202020204" pitchFamily="34" charset="0"/>
              <a:buChar char="•"/>
            </a:pPr>
            <a:r>
              <a:rPr lang="en-GB" dirty="0"/>
              <a:t>Linux Mint, Ubuntu, Debian</a:t>
            </a:r>
          </a:p>
          <a:p>
            <a:pPr marL="971550" lvl="1" indent="-285750">
              <a:buSzPct val="100000"/>
              <a:buFont typeface="Arial" panose="020B0604020202020204" pitchFamily="34" charset="0"/>
              <a:buChar char="•"/>
            </a:pPr>
            <a:r>
              <a:rPr lang="en-GB" dirty="0"/>
              <a:t>MacOS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8FD5EE-D4B9-420E-BC15-1A11E4C20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UV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E2F438-680F-44A1-9957-3C1E3F356A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15</a:t>
            </a:fld>
            <a:endParaRPr lang="de-DE" dirty="0"/>
          </a:p>
        </p:txBody>
      </p:sp>
      <p:pic>
        <p:nvPicPr>
          <p:cNvPr id="5" name="Picture 5" descr="UV.png">
            <a:extLst>
              <a:ext uri="{FF2B5EF4-FFF2-40B4-BE49-F238E27FC236}">
                <a16:creationId xmlns:a16="http://schemas.microsoft.com/office/drawing/2014/main" id="{2A3303A7-3DEE-4A40-AE32-C8D25EF3F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2160" y="4237173"/>
            <a:ext cx="1774135" cy="1738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110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1E82E56-C10B-484F-A5F2-1601732B4B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285750">
              <a:buChar char="•"/>
            </a:pPr>
            <a:r>
              <a:rPr lang="en-GB" dirty="0"/>
              <a:t>Supports code, narrative text, equations (Markdown), and visualizations</a:t>
            </a:r>
            <a:endParaRPr lang="en-US" dirty="0"/>
          </a:p>
          <a:p>
            <a:pPr marL="514350" indent="-285750">
              <a:buSzPct val="100000"/>
              <a:buChar char="•"/>
            </a:pPr>
            <a:r>
              <a:rPr lang="en-GB" dirty="0"/>
              <a:t>Ideal for exploratory data analysis, prototyping, and teaching</a:t>
            </a:r>
          </a:p>
          <a:p>
            <a:pPr marL="514350" indent="-285750">
              <a:buSzPct val="100000"/>
              <a:buChar char="•"/>
            </a:pPr>
            <a:r>
              <a:rPr lang="en-GB" dirty="0"/>
              <a:t>Code cells can be executed independently --&gt; Easy debugging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FA2759-5DC9-4176-B84F-E793400B6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Jupyter</a:t>
            </a:r>
            <a:r>
              <a:rPr lang="en-GB" dirty="0"/>
              <a:t> notebooks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26170-DE18-4CA7-AA1A-F970D9EAE7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16</a:t>
            </a:fld>
            <a:endParaRPr lang="de-DE" dirty="0"/>
          </a:p>
        </p:txBody>
      </p:sp>
      <p:pic>
        <p:nvPicPr>
          <p:cNvPr id="5" name="Picture 5" descr="jupyter2-1.png">
            <a:extLst>
              <a:ext uri="{FF2B5EF4-FFF2-40B4-BE49-F238E27FC236}">
                <a16:creationId xmlns:a16="http://schemas.microsoft.com/office/drawing/2014/main" id="{C2A58B73-0179-4017-92BF-1970CD7DC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247" y="2728796"/>
            <a:ext cx="5882307" cy="3926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68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1E82E56-C10B-484F-A5F2-1601732B4B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en-GB" dirty="0"/>
              <a:t>Container platform for packaging reproducible runtime environments</a:t>
            </a:r>
          </a:p>
          <a:p>
            <a:pPr marL="971550" lvl="1" indent="-285750">
              <a:buSzPct val="100000"/>
              <a:buFont typeface="Arial" panose="020B0604020202020204" pitchFamily="34" charset="0"/>
              <a:buChar char="•"/>
            </a:pPr>
            <a:r>
              <a:rPr lang="en-GB" dirty="0"/>
              <a:t>Enables applications to run consistently across machines, servers, and high-performance clusters (HPC)</a:t>
            </a:r>
          </a:p>
          <a:p>
            <a:pPr marL="971550" lvl="1" indent="-285750">
              <a:buSzPct val="100000"/>
              <a:buFont typeface="Arial" panose="020B0604020202020204" pitchFamily="34" charset="0"/>
              <a:buChar char="•"/>
            </a:pPr>
            <a:r>
              <a:rPr lang="en-GB" dirty="0"/>
              <a:t>Solves "works on my machine" problem </a:t>
            </a:r>
          </a:p>
          <a:p>
            <a:pPr marL="971550" lvl="1" indent="-285750">
              <a:buSzPct val="100000"/>
              <a:buFont typeface="Arial" panose="020B0604020202020204" pitchFamily="34" charset="0"/>
              <a:buChar char="•"/>
            </a:pPr>
            <a:endParaRPr lang="en-GB" dirty="0"/>
          </a:p>
          <a:p>
            <a:pPr marL="514350" indent="-285750">
              <a:buSzPct val="100000"/>
              <a:buFont typeface="Arial" panose="020B0604020202020204" pitchFamily="34" charset="0"/>
              <a:buChar char="•"/>
            </a:pPr>
            <a:r>
              <a:rPr lang="en-GB" dirty="0"/>
              <a:t>Ideal for complex software stacks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FA2759-5DC9-4176-B84F-E793400B6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26170-DE18-4CA7-AA1A-F970D9EAE7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17</a:t>
            </a:fld>
            <a:endParaRPr lang="de-DE" dirty="0"/>
          </a:p>
        </p:txBody>
      </p:sp>
      <p:pic>
        <p:nvPicPr>
          <p:cNvPr id="5" name="Picture 5" descr="Docker_Logo.png">
            <a:extLst>
              <a:ext uri="{FF2B5EF4-FFF2-40B4-BE49-F238E27FC236}">
                <a16:creationId xmlns:a16="http://schemas.microsoft.com/office/drawing/2014/main" id="{EDD9955C-06CF-4BF1-8DE8-FC1F21F84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987" y="4500109"/>
            <a:ext cx="5352221" cy="122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82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1E6491-73C6-4094-A82B-98B468541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50750D-1943-415D-AF60-94B3E47F2515}"/>
              </a:ext>
            </a:extLst>
          </p:cNvPr>
          <p:cNvSpPr txBox="1"/>
          <p:nvPr/>
        </p:nvSpPr>
        <p:spPr>
          <a:xfrm>
            <a:off x="1080052" y="1000000"/>
            <a:ext cx="10114721" cy="800219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dirty="0">
                <a:solidFill>
                  <a:srgbClr val="5A6065"/>
                </a:solidFill>
                <a:hlinkClick r:id="rId2"/>
              </a:rPr>
              <a:t>https://github.com/aihpi/workshop-getting-started</a:t>
            </a:r>
            <a:endParaRPr lang="en-US" sz="3200">
              <a:solidFill>
                <a:srgbClr val="5A6065"/>
              </a:solidFill>
            </a:endParaRPr>
          </a:p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1B3E47-5487-D94D-7163-7438EAD5B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3433" y="1650000"/>
            <a:ext cx="4685134" cy="4749169"/>
          </a:xfrm>
          <a:prstGeom prst="rect">
            <a:avLst/>
          </a:prstGeom>
        </p:spPr>
      </p:pic>
      <p:sp>
        <p:nvSpPr>
          <p:cNvPr id="7" name="Title Hands-on"/>
          <p:cNvSpPr txBox="1"/>
          <p:nvPr/>
        </p:nvSpPr>
        <p:spPr>
          <a:xfrm>
            <a:off x="1080052" y="300000"/>
            <a:ext cx="10114721" cy="600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/>
            <a:r>
              <a:rPr lang="en-GB" sz="3200" dirty="0">
                <a:solidFill>
                  <a:srgbClr val="5A6065"/>
                </a:solidFill>
              </a:rPr>
              <a:t>Hands-on</a:t>
            </a:r>
          </a:p>
        </p:txBody>
      </p:sp>
    </p:spTree>
    <p:extLst>
      <p:ext uri="{BB962C8B-B14F-4D97-AF65-F5344CB8AC3E}">
        <p14:creationId xmlns:p14="http://schemas.microsoft.com/office/powerpoint/2010/main" val="6227162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26D768-519A-4BD8-A610-5A4E17BE1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208FB9-FAD0-4C1D-83A8-B926DD8AFB6A}"/>
              </a:ext>
            </a:extLst>
          </p:cNvPr>
          <p:cNvSpPr txBox="1"/>
          <p:nvPr/>
        </p:nvSpPr>
        <p:spPr>
          <a:xfrm>
            <a:off x="3322069" y="524833"/>
            <a:ext cx="6114221" cy="307777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Finished? Check out our upcoming workshops, talks and online courses!</a:t>
            </a:r>
          </a:p>
        </p:txBody>
      </p:sp>
      <p:pic>
        <p:nvPicPr>
          <p:cNvPr id="8" name="Grafi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499" y="1236851"/>
            <a:ext cx="10002982" cy="515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5488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26D768-519A-4BD8-A610-5A4E17BE1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208FB9-FAD0-4C1D-83A8-B926DD8AFB6A}"/>
              </a:ext>
            </a:extLst>
          </p:cNvPr>
          <p:cNvSpPr txBox="1"/>
          <p:nvPr/>
        </p:nvSpPr>
        <p:spPr>
          <a:xfrm>
            <a:off x="3322069" y="524833"/>
            <a:ext cx="6114221" cy="307777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Finished? Check out our upcoming workshops, talks and online courses!</a:t>
            </a:r>
          </a:p>
        </p:txBody>
      </p:sp>
      <p:pic>
        <p:nvPicPr>
          <p:cNvPr id="5" name="Picture 5" descr="Screenshot 2026-02-12 at 12.49.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8813" y="1073294"/>
            <a:ext cx="6799218" cy="5489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8533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7874000" y="3650370"/>
            <a:ext cx="1901479" cy="3073400"/>
          </a:xfrm>
          <a:custGeom>
            <a:avLst/>
            <a:gdLst/>
            <a:ahLst/>
            <a:cxnLst/>
            <a:rect l="l" t="t" r="r" b="b"/>
            <a:pathLst>
              <a:path w="4071418" h="6566803">
                <a:moveTo>
                  <a:pt x="0" y="0"/>
                </a:moveTo>
                <a:lnTo>
                  <a:pt x="4071418" y="0"/>
                </a:lnTo>
                <a:lnTo>
                  <a:pt x="4071418" y="6566803"/>
                </a:lnTo>
                <a:lnTo>
                  <a:pt x="0" y="65668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TextBox 8"/>
          <p:cNvSpPr txBox="1"/>
          <p:nvPr/>
        </p:nvSpPr>
        <p:spPr>
          <a:xfrm>
            <a:off x="685800" y="711339"/>
            <a:ext cx="2063800" cy="908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38"/>
              </a:lnSpc>
            </a:pPr>
            <a:r>
              <a:rPr lang="en-US" sz="2670" u="sng" dirty="0">
                <a:solidFill>
                  <a:srgbClr val="DC640D"/>
                </a:solidFill>
                <a:latin typeface="Codec Pro Bold"/>
              </a:rPr>
              <a:t>kisz@hpi.de</a:t>
            </a:r>
            <a:r>
              <a:rPr lang="en-US" sz="2670" dirty="0">
                <a:solidFill>
                  <a:srgbClr val="DC640D"/>
                </a:solidFill>
                <a:latin typeface="Codec Pro Bold"/>
              </a:rPr>
              <a:t>    </a:t>
            </a:r>
            <a:r>
              <a:rPr lang="en-US" sz="2670" u="sng" dirty="0">
                <a:solidFill>
                  <a:srgbClr val="DC640D"/>
                </a:solidFill>
                <a:latin typeface="Codec Pro Bold"/>
              </a:rPr>
              <a:t>hpi.de/</a:t>
            </a:r>
            <a:r>
              <a:rPr lang="en-US" sz="2670" u="sng" dirty="0" err="1">
                <a:solidFill>
                  <a:srgbClr val="DC640D"/>
                </a:solidFill>
                <a:latin typeface="Codec Pro Bold"/>
              </a:rPr>
              <a:t>kisz</a:t>
            </a:r>
            <a:endParaRPr lang="en-US" sz="2670" u="sng" dirty="0">
              <a:solidFill>
                <a:srgbClr val="DC640D"/>
              </a:solidFill>
              <a:latin typeface="Codec Pro Bold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4F368CA3-BE27-4624-9ED8-CEEDBFDA0470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0" y="2589430"/>
            <a:ext cx="2474740" cy="24747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9CC0D7-B76F-42A6-AD50-62C3E3B3A053}"/>
              </a:ext>
            </a:extLst>
          </p:cNvPr>
          <p:cNvSpPr txBox="1"/>
          <p:nvPr/>
        </p:nvSpPr>
        <p:spPr>
          <a:xfrm>
            <a:off x="3810000" y="1684913"/>
            <a:ext cx="2474740" cy="913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667" dirty="0" err="1"/>
              <a:t>Your</a:t>
            </a:r>
            <a:r>
              <a:rPr lang="de-DE" sz="2667" dirty="0"/>
              <a:t> </a:t>
            </a:r>
            <a:r>
              <a:rPr lang="de-DE" sz="2667" dirty="0" err="1"/>
              <a:t>opinion</a:t>
            </a:r>
            <a:r>
              <a:rPr lang="de-DE" sz="2667" dirty="0"/>
              <a:t> </a:t>
            </a:r>
            <a:r>
              <a:rPr lang="de-DE" sz="2667" dirty="0" err="1"/>
              <a:t>is</a:t>
            </a:r>
            <a:r>
              <a:rPr lang="de-DE" sz="2667" dirty="0"/>
              <a:t> </a:t>
            </a:r>
            <a:r>
              <a:rPr lang="de-DE" sz="2667" dirty="0" err="1"/>
              <a:t>important</a:t>
            </a:r>
            <a:r>
              <a:rPr lang="de-DE" sz="2667" dirty="0"/>
              <a:t>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65C9C3-9987-4D5C-9B42-177262B8064A}"/>
              </a:ext>
            </a:extLst>
          </p:cNvPr>
          <p:cNvSpPr txBox="1"/>
          <p:nvPr/>
        </p:nvSpPr>
        <p:spPr>
          <a:xfrm>
            <a:off x="3810000" y="5064170"/>
            <a:ext cx="2474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QR code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feedback</a:t>
            </a:r>
            <a:r>
              <a:rPr lang="de-DE" dirty="0"/>
              <a:t> form</a:t>
            </a:r>
            <a:endParaRPr lang="de-DE" sz="1333" dirty="0"/>
          </a:p>
        </p:txBody>
      </p:sp>
    </p:spTree>
    <p:extLst>
      <p:ext uri="{BB962C8B-B14F-4D97-AF65-F5344CB8AC3E}">
        <p14:creationId xmlns:p14="http://schemas.microsoft.com/office/powerpoint/2010/main" val="2273935828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A28557B-E912-4344-8140-1A704894F8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285750">
              <a:lnSpc>
                <a:spcPct val="150000"/>
              </a:lnSpc>
              <a:buNone/>
            </a:pPr>
            <a:endParaRPr lang="en-GB" dirty="0"/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Please sign the attendance list and pass it on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76CEFC4-F77B-4C4B-9F81-C4EC43720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Attendance list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669F61-8DE0-4B4A-92DF-446BAB42FD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22295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HPI">
  <a:themeElements>
    <a:clrScheme name="Benutzerdefiniert 4">
      <a:dk1>
        <a:srgbClr val="5A6065"/>
      </a:dk1>
      <a:lt1>
        <a:srgbClr val="FFFFFF"/>
      </a:lt1>
      <a:dk2>
        <a:srgbClr val="5A6065"/>
      </a:dk2>
      <a:lt2>
        <a:srgbClr val="FFFFFF"/>
      </a:lt2>
      <a:accent1>
        <a:srgbClr val="B1063A"/>
      </a:accent1>
      <a:accent2>
        <a:srgbClr val="DD6108"/>
      </a:accent2>
      <a:accent3>
        <a:srgbClr val="F6A800"/>
      </a:accent3>
      <a:accent4>
        <a:srgbClr val="DDDFE0"/>
      </a:accent4>
      <a:accent5>
        <a:srgbClr val="007A9E"/>
      </a:accent5>
      <a:accent6>
        <a:srgbClr val="18E979"/>
      </a:accent6>
      <a:hlink>
        <a:srgbClr val="B1063A"/>
      </a:hlink>
      <a:folHlink>
        <a:srgbClr val="B1063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620</Words>
  <Application>Microsoft Macintosh PowerPoint</Application>
  <PresentationFormat>Widescreen</PresentationFormat>
  <Paragraphs>169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Aileron Bold</vt:lpstr>
      <vt:lpstr>Arial</vt:lpstr>
      <vt:lpstr>Calibri</vt:lpstr>
      <vt:lpstr>Codec Pro</vt:lpstr>
      <vt:lpstr>Codec Pro Bold</vt:lpstr>
      <vt:lpstr>Verdana</vt:lpstr>
      <vt:lpstr>HPI</vt:lpstr>
      <vt:lpstr>Office Theme</vt:lpstr>
      <vt:lpstr>Please group together with your Operating System</vt:lpstr>
      <vt:lpstr>First Steps Towards Your Own AI Application</vt:lpstr>
      <vt:lpstr>Overview of the AI Service Center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Let's get to know each other</vt:lpstr>
      <vt:lpstr>Goal: Set up your environment</vt:lpstr>
      <vt:lpstr>Overview of the software</vt:lpstr>
      <vt:lpstr>Visual Studio Code (VS Code)</vt:lpstr>
      <vt:lpstr>GitHub &amp; Git</vt:lpstr>
      <vt:lpstr>Python</vt:lpstr>
      <vt:lpstr>UV</vt:lpstr>
      <vt:lpstr>Jupyter notebooks</vt:lpstr>
      <vt:lpstr>Docker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Scope des Pilotprojekts</dc:title>
  <dc:creator>Kohlmeyer, Lasse</dc:creator>
  <cp:lastModifiedBy>Goll, David</cp:lastModifiedBy>
  <cp:revision>295</cp:revision>
  <dcterms:modified xsi:type="dcterms:W3CDTF">2026-05-13T08:31:26Z</dcterms:modified>
</cp:coreProperties>
</file>