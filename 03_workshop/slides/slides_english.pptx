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9" r:id="rId3"/>
    <p:sldId id="318" r:id="rId4"/>
    <p:sldId id="271" r:id="rId5"/>
    <p:sldId id="309" r:id="rId6"/>
    <p:sldId id="312" r:id="rId7"/>
    <p:sldId id="310" r:id="rId8"/>
    <p:sldId id="311" r:id="rId9"/>
    <p:sldId id="306" r:id="rId10"/>
    <p:sldId id="265" r:id="rId11"/>
    <p:sldId id="258" r:id="rId12"/>
    <p:sldId id="270" r:id="rId13"/>
    <p:sldId id="259" r:id="rId14"/>
    <p:sldId id="260" r:id="rId15"/>
    <p:sldId id="261" r:id="rId16"/>
    <p:sldId id="262" r:id="rId17"/>
    <p:sldId id="263" r:id="rId18"/>
    <p:sldId id="266" r:id="rId19"/>
    <p:sldId id="315" r:id="rId20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16"/>
  </p:normalViewPr>
  <p:slideViewPr>
    <p:cSldViewPr snapToGrid="0">
      <p:cViewPr varScale="1">
        <p:scale>
          <a:sx n="122" d="100"/>
          <a:sy n="122" d="100"/>
        </p:scale>
        <p:origin x="224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30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group together with your Operating System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MacOS?</a:t>
            </a:r>
          </a:p>
          <a:p>
            <a:r>
              <a:rPr lang="en-US" dirty="0"/>
              <a:t>-&gt; Please sit to the left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Linux?</a:t>
            </a:r>
          </a:p>
          <a:p>
            <a:r>
              <a:rPr lang="en-US" dirty="0"/>
              <a:t>-&gt; Please sit in the middle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/>
              <a:t>Windows?</a:t>
            </a:r>
          </a:p>
          <a:p>
            <a:r>
              <a:rPr lang="en-US" dirty="0"/>
              <a:t>-&gt; Please sit to the right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First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AI </a:t>
            </a:r>
            <a:r>
              <a:rPr lang="de-DE" dirty="0" err="1"/>
              <a:t>Application</a:t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Setting </a:t>
            </a:r>
            <a:r>
              <a:rPr lang="de-DE" sz="1800" dirty="0" err="1"/>
              <a:t>up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key</a:t>
            </a:r>
            <a:r>
              <a:rPr lang="de-DE" sz="1800" dirty="0"/>
              <a:t> </a:t>
            </a:r>
            <a:r>
              <a:rPr lang="de-DE" sz="1800" dirty="0" err="1"/>
              <a:t>tools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local</a:t>
            </a:r>
            <a:r>
              <a:rPr lang="de-DE" sz="1800" dirty="0"/>
              <a:t> AI </a:t>
            </a:r>
            <a:r>
              <a:rPr lang="de-DE" sz="1800" dirty="0" err="1"/>
              <a:t>development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of the AI Service </a:t>
            </a:r>
            <a:r>
              <a:rPr lang="en-GB" dirty="0" err="1"/>
              <a:t>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and Critical Infrastructure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Medicine &amp; Energy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Education- and Advisory Services,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Application of AI in Business &amp; Society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RESEARCH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EDUCATION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en-US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INFRASTRUCTURE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ADVISORY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Explainability, Generalisability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and Contextual Adaptation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Multimodal, Large and Transferable AI Models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en-US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en-US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AI-Service Centers</a:t>
            </a:r>
            <a:endParaRPr lang="en-US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163723" y="408214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"/>
              </a:rPr>
              <a:t>ADVISORY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en-US" sz="1095">
                  <a:solidFill>
                    <a:srgbClr val="FFFFFF"/>
                  </a:solidFill>
                  <a:latin typeface="Codec Pro Bold"/>
                </a:rPr>
                <a:t>HPI ECOSYSTEM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Advisory 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General Questions regarding AI, 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Computing Infrastructure,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Model, Architecture, Framework Selection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Pilot Projects (3 months)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Understanding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Identifying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Specifying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Developing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 Solution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Finalizing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Documenting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en-US" sz="1500" b="1" dirty="0" err="1">
                <a:solidFill>
                  <a:srgbClr val="FFFFFF"/>
                </a:solidFill>
                <a:latin typeface="Codec Pro Bold"/>
              </a:rPr>
              <a:t>Cooperations</a:t>
            </a:r>
            <a:endParaRPr lang="en-US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Co-organized Network Meetings or Workshops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Start-up Support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All of the above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Support with Networking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2CF2C-90E7-424C-20F1-B7C073069C19}"/>
              </a:ext>
            </a:extLst>
          </p:cNvPr>
          <p:cNvSpPr/>
          <p:nvPr/>
        </p:nvSpPr>
        <p:spPr>
          <a:xfrm>
            <a:off x="7231117" y="2701159"/>
            <a:ext cx="2207173" cy="7375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7CCD38-C0B7-B6EC-69C0-5A3D1EAC6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668" y="2790402"/>
            <a:ext cx="3278359" cy="6483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E1FE5A9-1A33-FEAB-406A-9802104EA3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6005" y="3508932"/>
            <a:ext cx="2562285" cy="83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en-US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Infrastructure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 x NVIDIA L40 GPUs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NVIDIA Jetson AGX Module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Storage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Network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en-US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Talks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en-US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EDUCATION</a:t>
            </a:r>
          </a:p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en-US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9620FA-EF03-E7B2-8EE4-F76B79C4D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09" y="849284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34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motivation</a:t>
            </a:r>
            <a:r>
              <a:rPr lang="de-DE" dirty="0"/>
              <a:t> </a:t>
            </a:r>
            <a:r>
              <a:rPr lang="de-DE" dirty="0" err="1"/>
              <a:t>coming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today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Are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familiar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dirty="0" err="1"/>
              <a:t>VSCode</a:t>
            </a:r>
            <a:r>
              <a:rPr lang="de-DE" dirty="0"/>
              <a:t>, </a:t>
            </a:r>
            <a:r>
              <a:rPr lang="de-DE" dirty="0" err="1"/>
              <a:t>Git</a:t>
            </a:r>
            <a:r>
              <a:rPr lang="de-DE" dirty="0"/>
              <a:t>, Docker, Python, … ?</a:t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to know each 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WSL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Git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 err="1"/>
              <a:t>Ollama</a:t>
            </a:r>
            <a:endParaRPr lang="en-GB" sz="2000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Example Application: Local Chatbot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Set up your environment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en-GB" dirty="0"/>
              <a:t>Overview of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Lightweight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Cross-platform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Expandable with extensions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Supports various tools: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Python, </a:t>
            </a:r>
            <a:r>
              <a:rPr lang="en-GB" dirty="0" err="1"/>
              <a:t>Jupyter</a:t>
            </a:r>
            <a:r>
              <a:rPr lang="en-GB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Integration of coding assistants (e.g., 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Platform for version control of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Development, version control, review, and documentation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General-purpose programming language with key libraries for AI and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NumPy: numerical computing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: neural networks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Librosa</a:t>
            </a:r>
            <a:r>
              <a:rPr lang="en-GB" dirty="0"/>
              <a:t>: audio processing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Extensive learning resources and tutorials available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Suitable for data processing, model 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Fast Python package and project manager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Handles package installation and dependency management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Creates reproducible development environments, ensuring consistent package versions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Ensures code runs reliably across different machines and operating systems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Windows 10, 11, XP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en-GB" dirty="0"/>
              <a:t>Supports code, narrative text, equations (Markdown), and visualizations</a:t>
            </a:r>
            <a:endParaRPr lang="en-US" dirty="0"/>
          </a:p>
          <a:p>
            <a:pPr marL="514350" indent="-285750">
              <a:buSzPct val="100000"/>
              <a:buChar char="•"/>
            </a:pPr>
            <a:r>
              <a:rPr lang="en-GB" dirty="0"/>
              <a:t>Ideal for exploratory data analysis, prototyping, and teaching</a:t>
            </a:r>
          </a:p>
          <a:p>
            <a:pPr marL="514350" indent="-285750">
              <a:buSzPct val="100000"/>
              <a:buChar char="•"/>
            </a:pPr>
            <a:r>
              <a:rPr lang="en-GB" dirty="0"/>
              <a:t>Code cells can be executed independently --&gt; Easy 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Jupyter</a:t>
            </a:r>
            <a:r>
              <a:rPr lang="en-GB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Container platform for packaging reproducible runtime environments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Enables applications to run consistently across machines, servers, and high-performance clusters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Solves "works on my machine" problem 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Ideal for complex software 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616225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en-US" sz="3200">
              <a:solidFill>
                <a:srgbClr val="5A6065"/>
              </a:solidFill>
            </a:endParaRPr>
          </a:p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3E47-5487-D94D-7163-7438EAD5B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456" y="1214041"/>
            <a:ext cx="5351868" cy="5425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Finished? Check out our upcoming workshops, talks and online courses!</a:t>
            </a:r>
          </a:p>
        </p:txBody>
      </p:sp>
      <p:pic>
        <p:nvPicPr>
          <p:cNvPr id="8" name="Grafik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Finished? Check out our upcoming workshops, talks and online courses!</a:t>
            </a:r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en-US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en-US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en-US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Your</a:t>
            </a:r>
            <a:r>
              <a:rPr lang="de-DE" sz="2667" dirty="0"/>
              <a:t> </a:t>
            </a:r>
            <a:r>
              <a:rPr lang="de-DE" sz="2667" dirty="0" err="1"/>
              <a:t>opinion</a:t>
            </a:r>
            <a:r>
              <a:rPr lang="de-DE" sz="2667" dirty="0"/>
              <a:t> </a:t>
            </a:r>
            <a:r>
              <a:rPr lang="de-DE" sz="2667" dirty="0" err="1"/>
              <a:t>is</a:t>
            </a:r>
            <a:r>
              <a:rPr lang="de-DE" sz="2667" dirty="0"/>
              <a:t> </a:t>
            </a:r>
            <a:r>
              <a:rPr lang="de-DE" sz="2667" dirty="0" err="1"/>
              <a:t>important</a:t>
            </a:r>
            <a:r>
              <a:rPr lang="de-DE" sz="2667" dirty="0"/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 code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form</a:t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620</Words>
  <Application>Microsoft Macintosh PowerPoint</Application>
  <PresentationFormat>Widescreen</PresentationFormat>
  <Paragraphs>169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Aileron Bold</vt:lpstr>
      <vt:lpstr>Arial</vt:lpstr>
      <vt:lpstr>Calibri</vt:lpstr>
      <vt:lpstr>Codec Pro</vt:lpstr>
      <vt:lpstr>Codec Pro Bold</vt:lpstr>
      <vt:lpstr>Verdana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Let's get to know each other</vt:lpstr>
      <vt:lpstr>Goal: Set up your environment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294</cp:revision>
  <dcterms:modified xsi:type="dcterms:W3CDTF">2026-05-13T08:15:22Z</dcterms:modified>
</cp:coreProperties>
</file>